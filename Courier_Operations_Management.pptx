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follows one shipment through the real application, screen by screen, in the exact order operations actually uses it: booking, loading sheet, THC dispatch, in scan, DRS, delivery, and POD upload. Every screenshot from here on is the live system, not a mockup.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lifecycle, and it is also the exact order of the slides that follow — nothing here is reordered or simplified from how the system actually works. Booking alone breaks into four screens, which we will go through one at a time, then loading sheet, THC, in scan, DRS, delivery, and POD upload.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very first thing that happens in a booking. The operator types the destination pincode, and the system immediately resolves the destination area and starts pricing the shipment live in the Booking Summary panel on the right — freight, docket charge, GST, right down to the net amount. Nothing else needs to be filled in yet for the price to already be forming.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item details. The operator records actual weight and dimensions per package. The system computes volumetric weight from length, width and height automatically, and charges on whichever of actual or volumetric weight is higher — that comparison is shown live at the bottom of the items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pricing already forming, the operator fills in who the shipment is from and who it is going to — the consignor and consignee, each with name, address, contact number and pincode. This is the same information that ends up on the shipping label and the POD at the end of the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step in booking is picking the payment mode — Paid upfront, To Pay, To Be Billed on account, or Cash on Delivery. This choice is what later drives the COD collection step during Out For Delivery. Once this is set, Book Shipment generates the AWB and the shipment formally exists in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shipment is booked, it does not move alone. The Loading Sheet screen groups every booked shipment heading to the same destination city — or the same delivery branch, when routed through a crossing hub — into a single manifest. Creating this loading sheet is what the system counts as manifest creation, and it is the direct input to the next screen, the Trip Hire Challan.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Trip Hire Challan is where a manifest becomes a real dispatch. The operator opens the manifest, confirms exactly which shipments are riding on it, then assigns a vehicle and a driver from the two dropdowns shown here. Clicking Dispatch locks the manifest and the load is officially on its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 Scan screen is used at every handover point — leaving the origin branch, arriving at a hub, or arriving at the delivery branch. The operator scans the AWB, shipment or manifest number, the system verifies it belongs to that movement, and the shipment’s status updates in real time the moment the scan succeeds.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shipment is received at the delivery branch, the DRS screen is where it gets assigned to a specific delivery executive for the last mile. This same screen also has a Direct Company Delivery mode, for shipments the booking branch sends straight out on a company vehicle without a delivery branch involved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Delivery screen the executive uses to close a shipment out. It is searched by tracking number, shipment number or receiver name, receiver identity is confirmed, and the shipment is marked delivered against the consignee. That status change is what the next screen, POD upload, attaches proof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screen in the chain. POD Upload lets proof of delivery be attached to any shipment in the company by its tracking or shipment number, without needing to be logged into that specific branch, and it is auto-approved on upload. This is what closes the loop that started on the very first booking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Things go wrong — misroutes, damaged shipments, addresses that do not exist, customers who are not home. Every one of these eight exception types gets logged as a ticket on this same screen, with category, priority, SLA and the branch and agent responsible, so exceptions never quietly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dashboard, company-wide across all branches. POD activity and delivered-versus-pending are tracked as live charts, not static numbers, so trends are visible at a glance instead of buried in a report. This is the same visibility every screen before it feeds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Bringing it together — this is why the process discipline we just walked through matters. Real-time visibility, less manual chasing, tighter coordination between branches and hubs, and a controlled dispatch process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2-5.png"/><Relationship Id="rId6" Type="http://schemas.openxmlformats.org/officeDocument/2006/relationships/image" Target="../media/image-2-2.png"/><Relationship Id="rId7" Type="http://schemas.openxmlformats.org/officeDocument/2006/relationships/image" Target="../media/image-2-7.png"/><Relationship Id="rId8" Type="http://schemas.openxmlformats.org/officeDocument/2006/relationships/image" Target="../media/image-2-2.png"/><Relationship Id="rId9" Type="http://schemas.openxmlformats.org/officeDocument/2006/relationships/image" Target="../media/image-2-9.png"/><Relationship Id="rId10" Type="http://schemas.openxmlformats.org/officeDocument/2006/relationships/image" Target="../media/image-2-2.png"/><Relationship Id="rId11" Type="http://schemas.openxmlformats.org/officeDocument/2006/relationships/image" Target="../media/image-2-11.png"/><Relationship Id="rId12" Type="http://schemas.openxmlformats.org/officeDocument/2006/relationships/image" Target="../media/image-2-2.png"/><Relationship Id="rId13" Type="http://schemas.openxmlformats.org/officeDocument/2006/relationships/image" Target="../media/image-2-13.png"/><Relationship Id="rId14" Type="http://schemas.openxmlformats.org/officeDocument/2006/relationships/slideLayout" Target="../slideLayouts/slideLayout1.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jp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8"/>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D38"/>
          </a:solidFill>
          <a:ln/>
        </p:spPr>
      </p:sp>
      <p:sp>
        <p:nvSpPr>
          <p:cNvPr id="3" name="Shape 1"/>
          <p:cNvSpPr/>
          <p:nvPr/>
        </p:nvSpPr>
        <p:spPr>
          <a:xfrm>
            <a:off x="8869680" y="-2103120"/>
            <a:ext cx="5486400" cy="5486400"/>
          </a:xfrm>
          <a:prstGeom prst="ellipse">
            <a:avLst/>
          </a:prstGeom>
          <a:solidFill>
            <a:srgbClr val="12294B"/>
          </a:solidFill>
          <a:ln/>
        </p:spPr>
      </p:sp>
      <p:sp>
        <p:nvSpPr>
          <p:cNvPr id="4" name="Shape 2"/>
          <p:cNvSpPr/>
          <p:nvPr/>
        </p:nvSpPr>
        <p:spPr>
          <a:xfrm>
            <a:off x="10241280" y="-914400"/>
            <a:ext cx="2926080" cy="2926080"/>
          </a:xfrm>
          <a:prstGeom prst="ellipse">
            <a:avLst/>
          </a:prstGeom>
          <a:solidFill>
            <a:srgbClr val="17325C"/>
          </a:solidFill>
          <a:ln/>
        </p:spPr>
      </p:sp>
      <p:sp>
        <p:nvSpPr>
          <p:cNvPr id="5" name="Shape 3"/>
          <p:cNvSpPr/>
          <p:nvPr/>
        </p:nvSpPr>
        <p:spPr>
          <a:xfrm>
            <a:off x="891540" y="891540"/>
            <a:ext cx="1051560" cy="1051560"/>
          </a:xfrm>
          <a:prstGeom prst="ellipse">
            <a:avLst/>
          </a:prstGeom>
          <a:solidFill>
            <a:srgbClr val="12294B"/>
          </a:solidFill>
          <a:ln/>
        </p:spPr>
      </p:sp>
      <p:pic>
        <p:nvPicPr>
          <p:cNvPr id="6" name="Image 0" descr="/private/tmp/claude-501/-Users-prashantrohidaskamble-Desktop-courier-management/e0ec2727-54e8-4bc0-83a4-c389b4bb4ea6/scratchpad/courier-ppt/icons/truck_amber.png">    </p:cNvPr>
          <p:cNvPicPr>
            <a:picLocks noChangeAspect="1"/>
          </p:cNvPicPr>
          <p:nvPr/>
        </p:nvPicPr>
        <p:blipFill>
          <a:blip r:embed="rId1"/>
          <a:stretch>
            <a:fillRect/>
          </a:stretch>
        </p:blipFill>
        <p:spPr>
          <a:xfrm>
            <a:off x="1143914" y="1143914"/>
            <a:ext cx="546811" cy="546811"/>
          </a:xfrm>
          <a:prstGeom prst="rect">
            <a:avLst/>
          </a:prstGeom>
        </p:spPr>
      </p:pic>
      <p:sp>
        <p:nvSpPr>
          <p:cNvPr id="7" name="Text 4"/>
          <p:cNvSpPr/>
          <p:nvPr/>
        </p:nvSpPr>
        <p:spPr>
          <a:xfrm>
            <a:off x="548640" y="2880360"/>
            <a:ext cx="10607040" cy="1371600"/>
          </a:xfrm>
          <a:prstGeom prst="rect">
            <a:avLst/>
          </a:prstGeom>
          <a:noFill/>
          <a:ln/>
        </p:spPr>
        <p:txBody>
          <a:bodyPr wrap="square" lIns="0" tIns="0" rIns="0" bIns="0" rtlCol="0" anchor="ctr"/>
          <a:lstStyle/>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COURIER OPERATIONS MANAGEMENT</a:t>
            </a:r>
            <a:endParaRPr lang="en-US" sz="4600" dirty="0"/>
          </a:p>
        </p:txBody>
      </p:sp>
      <p:sp>
        <p:nvSpPr>
          <p:cNvPr id="8" name="Shape 5"/>
          <p:cNvSpPr/>
          <p:nvPr/>
        </p:nvSpPr>
        <p:spPr>
          <a:xfrm>
            <a:off x="566928" y="3977640"/>
            <a:ext cx="822960" cy="45720"/>
          </a:xfrm>
          <a:prstGeom prst="rect">
            <a:avLst/>
          </a:prstGeom>
          <a:solidFill>
            <a:srgbClr val="F2A93B"/>
          </a:solidFill>
          <a:ln/>
        </p:spPr>
      </p:sp>
      <p:sp>
        <p:nvSpPr>
          <p:cNvPr id="9" name="Text 6"/>
          <p:cNvSpPr/>
          <p:nvPr/>
        </p:nvSpPr>
        <p:spPr>
          <a:xfrm>
            <a:off x="566928" y="4160520"/>
            <a:ext cx="10058400" cy="457200"/>
          </a:xfrm>
          <a:prstGeom prst="rect">
            <a:avLst/>
          </a:prstGeom>
          <a:noFill/>
          <a:ln/>
        </p:spPr>
        <p:txBody>
          <a:bodyPr wrap="square" lIns="0" tIns="0" rIns="0" bIns="0" rtlCol="0" anchor="ctr"/>
          <a:lstStyle/>
          <a:p>
            <a:pPr indent="0" marL="0">
              <a:buNone/>
            </a:pPr>
            <a:r>
              <a:rPr lang="en-US" sz="1800" dirty="0">
                <a:solidFill>
                  <a:srgbClr val="CFE0F5"/>
                </a:solidFill>
                <a:latin typeface="Calibri" pitchFamily="34" charset="0"/>
                <a:ea typeface="Calibri" pitchFamily="34" charset="-122"/>
                <a:cs typeface="Calibri" pitchFamily="34" charset="-120"/>
              </a:rPr>
              <a:t>From Booking to Final Delivery — a step-by-step walkthrough of the real system</a:t>
            </a:r>
            <a:endParaRPr lang="en-US" sz="1800" dirty="0"/>
          </a:p>
        </p:txBody>
      </p:sp>
      <p:sp>
        <p:nvSpPr>
          <p:cNvPr id="10" name="Text 7"/>
          <p:cNvSpPr/>
          <p:nvPr/>
        </p:nvSpPr>
        <p:spPr>
          <a:xfrm>
            <a:off x="566928" y="6035040"/>
            <a:ext cx="10972800" cy="365760"/>
          </a:xfrm>
          <a:prstGeom prst="rect">
            <a:avLst/>
          </a:prstGeom>
          <a:noFill/>
          <a:ln/>
        </p:spPr>
        <p:txBody>
          <a:bodyPr wrap="square" lIns="0" tIns="0" rIns="0" bIns="0" rtlCol="0" anchor="ctr"/>
          <a:lstStyle/>
          <a:p>
            <a:pPr indent="0" marL="0">
              <a:buNone/>
            </a:pPr>
            <a:r>
              <a:rPr lang="en-US" sz="1200" spc="100" kern="0" dirty="0">
                <a:solidFill>
                  <a:srgbClr val="5B7A9D"/>
                </a:solidFill>
                <a:latin typeface="Calibri" pitchFamily="34" charset="0"/>
                <a:ea typeface="Calibri" pitchFamily="34" charset="-122"/>
                <a:cs typeface="Calibri" pitchFamily="34" charset="-120"/>
              </a:rPr>
              <a:t>BOOKING  ›  LOADING SHEET  ›  THC  ›  IN SCAN  ›  DRS  ›  DELIVERY  ›  POD UPLOAD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457200"/>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INTRODUCTION</a:t>
            </a:r>
            <a:endParaRPr lang="en-US" sz="1100" dirty="0"/>
          </a:p>
        </p:txBody>
      </p:sp>
      <p:sp>
        <p:nvSpPr>
          <p:cNvPr id="3" name="Text 1"/>
          <p:cNvSpPr/>
          <p:nvPr/>
        </p:nvSpPr>
        <p:spPr>
          <a:xfrm>
            <a:off x="548640" y="713232"/>
            <a:ext cx="10515600" cy="731520"/>
          </a:xfrm>
          <a:prstGeom prst="rect">
            <a:avLst/>
          </a:prstGeom>
          <a:noFill/>
          <a:ln/>
        </p:spPr>
        <p:txBody>
          <a:bodyPr wrap="square" lIns="0" tIns="0" rIns="0" bIns="0" rtlCol="0" anchor="ctr"/>
          <a:lstStyle/>
          <a:p>
            <a:pPr indent="0" marL="0">
              <a:buNone/>
            </a:pPr>
            <a:r>
              <a:rPr lang="en-US" sz="3200" b="1" dirty="0">
                <a:solidFill>
                  <a:srgbClr val="12294B"/>
                </a:solidFill>
                <a:latin typeface="Cambria" pitchFamily="34" charset="0"/>
                <a:ea typeface="Cambria" pitchFamily="34" charset="-122"/>
                <a:cs typeface="Cambria" pitchFamily="34" charset="-120"/>
              </a:rPr>
              <a:t>Operations Overview</a:t>
            </a:r>
            <a:endParaRPr lang="en-US" sz="3200" dirty="0"/>
          </a:p>
        </p:txBody>
      </p:sp>
      <p:sp>
        <p:nvSpPr>
          <p:cNvPr id="4" name="Text 2"/>
          <p:cNvSpPr/>
          <p:nvPr/>
        </p:nvSpPr>
        <p:spPr>
          <a:xfrm>
            <a:off x="548640" y="1417320"/>
            <a:ext cx="10515600" cy="457200"/>
          </a:xfrm>
          <a:prstGeom prst="rect">
            <a:avLst/>
          </a:prstGeom>
          <a:noFill/>
          <a:ln/>
        </p:spPr>
        <p:txBody>
          <a:bodyPr wrap="square" lIns="0" tIns="0" rIns="0" bIns="0" rtlCol="0" anchor="ctr"/>
          <a:lstStyle/>
          <a:p>
            <a:pPr indent="0" marL="0">
              <a:buNone/>
            </a:pPr>
            <a:r>
              <a:rPr lang="en-US" sz="1400" dirty="0">
                <a:solidFill>
                  <a:srgbClr val="4A5568"/>
                </a:solidFill>
                <a:latin typeface="Calibri" pitchFamily="34" charset="0"/>
                <a:ea typeface="Calibri" pitchFamily="34" charset="-122"/>
                <a:cs typeface="Calibri" pitchFamily="34" charset="-120"/>
              </a:rPr>
              <a:t>This is the exact sequence a shipment follows in the system, and the order this deck walks through it.</a:t>
            </a:r>
            <a:endParaRPr lang="en-US" sz="1400" dirty="0"/>
          </a:p>
        </p:txBody>
      </p:sp>
      <p:sp>
        <p:nvSpPr>
          <p:cNvPr id="5" name="Shape 3"/>
          <p:cNvSpPr/>
          <p:nvPr/>
        </p:nvSpPr>
        <p:spPr>
          <a:xfrm>
            <a:off x="548640" y="2743200"/>
            <a:ext cx="1417320" cy="2286000"/>
          </a:xfrm>
          <a:prstGeom prst="roundRect">
            <a:avLst>
              <a:gd name="adj" fmla="val 5161"/>
            </a:avLst>
          </a:prstGeom>
          <a:solidFill>
            <a:srgbClr val="FFFFFF"/>
          </a:solidFill>
          <a:ln/>
          <a:effectLst>
            <a:outerShdw sx="100000" sy="100000" kx="0" ky="0" algn="bl" rotWithShape="0" blurRad="101600" dist="38100" dir="5400000">
              <a:srgbClr val="1B2A47">
                <a:alpha val="18000"/>
              </a:srgbClr>
            </a:outerShdw>
          </a:effectLst>
        </p:spPr>
      </p:sp>
      <p:sp>
        <p:nvSpPr>
          <p:cNvPr id="6" name="Text 4"/>
          <p:cNvSpPr/>
          <p:nvPr/>
        </p:nvSpPr>
        <p:spPr>
          <a:xfrm>
            <a:off x="658368" y="2834640"/>
            <a:ext cx="548640" cy="365760"/>
          </a:xfrm>
          <a:prstGeom prst="rect">
            <a:avLst/>
          </a:prstGeom>
          <a:noFill/>
          <a:ln/>
        </p:spPr>
        <p:txBody>
          <a:bodyPr wrap="square" lIns="0" tIns="0" rIns="0" bIns="0" rtlCol="0" anchor="ctr"/>
          <a:lstStyle/>
          <a:p>
            <a:pPr indent="0" marL="0">
              <a:buNone/>
            </a:pPr>
            <a:r>
              <a:rPr lang="en-US" sz="1600" b="1" dirty="0">
                <a:solidFill>
                  <a:srgbClr val="CFE0F5"/>
                </a:solidFill>
                <a:latin typeface="Cambria" pitchFamily="34" charset="0"/>
                <a:ea typeface="Cambria" pitchFamily="34" charset="-122"/>
                <a:cs typeface="Cambria" pitchFamily="34" charset="-120"/>
              </a:rPr>
              <a:t>1</a:t>
            </a:r>
            <a:endParaRPr lang="en-US" sz="1600" dirty="0"/>
          </a:p>
        </p:txBody>
      </p:sp>
      <p:sp>
        <p:nvSpPr>
          <p:cNvPr id="7" name="Shape 5"/>
          <p:cNvSpPr/>
          <p:nvPr/>
        </p:nvSpPr>
        <p:spPr>
          <a:xfrm>
            <a:off x="900684" y="3255264"/>
            <a:ext cx="713232" cy="713232"/>
          </a:xfrm>
          <a:prstGeom prst="ellipse">
            <a:avLst/>
          </a:prstGeom>
          <a:solidFill>
            <a:srgbClr val="12294B"/>
          </a:solidFill>
          <a:ln/>
        </p:spPr>
      </p:sp>
      <p:pic>
        <p:nvPicPr>
          <p:cNvPr id="8" name="Image 0" descr="/private/tmp/claude-501/-Users-prashantrohidaskamble-Desktop-courier-management/e0ec2727-54e8-4bc0-83a4-c389b4bb4ea6/scratchpad/courier-ppt/icons/boxes_amber.png">    </p:cNvPr>
          <p:cNvPicPr>
            <a:picLocks noChangeAspect="1"/>
          </p:cNvPicPr>
          <p:nvPr/>
        </p:nvPicPr>
        <p:blipFill>
          <a:blip r:embed="rId1"/>
          <a:stretch>
            <a:fillRect/>
          </a:stretch>
        </p:blipFill>
        <p:spPr>
          <a:xfrm>
            <a:off x="1071860" y="3426440"/>
            <a:ext cx="370881" cy="370881"/>
          </a:xfrm>
          <a:prstGeom prst="rect">
            <a:avLst/>
          </a:prstGeom>
        </p:spPr>
      </p:pic>
      <p:sp>
        <p:nvSpPr>
          <p:cNvPr id="9" name="Text 6"/>
          <p:cNvSpPr/>
          <p:nvPr/>
        </p:nvSpPr>
        <p:spPr>
          <a:xfrm>
            <a:off x="603504" y="4114800"/>
            <a:ext cx="1307592" cy="822960"/>
          </a:xfrm>
          <a:prstGeom prst="rect">
            <a:avLst/>
          </a:prstGeom>
          <a:noFill/>
          <a:ln/>
        </p:spPr>
        <p:txBody>
          <a:bodyPr wrap="square" lIns="0" tIns="0" rIns="0" bIns="0" rtlCol="0" anchor="t"/>
          <a:lstStyle/>
          <a:p>
            <a:pPr algn="ctr" indent="0" marL="0">
              <a:buNone/>
            </a:pPr>
            <a:r>
              <a:rPr lang="en-US" sz="1150" b="1" dirty="0">
                <a:solidFill>
                  <a:srgbClr val="12294B"/>
                </a:solidFill>
                <a:latin typeface="Calibri" pitchFamily="34" charset="0"/>
                <a:ea typeface="Calibri" pitchFamily="34" charset="-122"/>
                <a:cs typeface="Calibri" pitchFamily="34" charset="-120"/>
              </a:rPr>
              <a:t>Booking</a:t>
            </a:r>
            <a:endParaRPr lang="en-US" sz="1150" dirty="0"/>
          </a:p>
        </p:txBody>
      </p:sp>
      <p:pic>
        <p:nvPicPr>
          <p:cNvPr id="10" name="Image 1" descr="/private/tmp/claude-501/-Users-prashantrohidaskamble-Desktop-courier-management/e0ec2727-54e8-4bc0-83a4-c389b4bb4ea6/scratchpad/courier-ppt/icons/arrowRight_slate.png">    </p:cNvPr>
          <p:cNvPicPr>
            <a:picLocks noChangeAspect="1"/>
          </p:cNvPicPr>
          <p:nvPr/>
        </p:nvPicPr>
        <p:blipFill>
          <a:blip r:embed="rId2"/>
          <a:stretch>
            <a:fillRect/>
          </a:stretch>
        </p:blipFill>
        <p:spPr>
          <a:xfrm>
            <a:off x="1984248" y="3794760"/>
            <a:ext cx="182880" cy="182880"/>
          </a:xfrm>
          <a:prstGeom prst="rect">
            <a:avLst/>
          </a:prstGeom>
        </p:spPr>
      </p:pic>
      <p:sp>
        <p:nvSpPr>
          <p:cNvPr id="11" name="Shape 7"/>
          <p:cNvSpPr/>
          <p:nvPr/>
        </p:nvSpPr>
        <p:spPr>
          <a:xfrm>
            <a:off x="2112264" y="2743200"/>
            <a:ext cx="1417320" cy="2286000"/>
          </a:xfrm>
          <a:prstGeom prst="roundRect">
            <a:avLst>
              <a:gd name="adj" fmla="val 5161"/>
            </a:avLst>
          </a:prstGeom>
          <a:solidFill>
            <a:srgbClr val="FFFFFF"/>
          </a:solidFill>
          <a:ln/>
          <a:effectLst>
            <a:outerShdw sx="100000" sy="100000" kx="0" ky="0" algn="bl" rotWithShape="0" blurRad="101600" dist="38100" dir="5400000">
              <a:srgbClr val="1B2A47">
                <a:alpha val="18000"/>
              </a:srgbClr>
            </a:outerShdw>
          </a:effectLst>
        </p:spPr>
      </p:sp>
      <p:sp>
        <p:nvSpPr>
          <p:cNvPr id="12" name="Text 8"/>
          <p:cNvSpPr/>
          <p:nvPr/>
        </p:nvSpPr>
        <p:spPr>
          <a:xfrm>
            <a:off x="2221992" y="2834640"/>
            <a:ext cx="548640" cy="365760"/>
          </a:xfrm>
          <a:prstGeom prst="rect">
            <a:avLst/>
          </a:prstGeom>
          <a:noFill/>
          <a:ln/>
        </p:spPr>
        <p:txBody>
          <a:bodyPr wrap="square" lIns="0" tIns="0" rIns="0" bIns="0" rtlCol="0" anchor="ctr"/>
          <a:lstStyle/>
          <a:p>
            <a:pPr indent="0" marL="0">
              <a:buNone/>
            </a:pPr>
            <a:r>
              <a:rPr lang="en-US" sz="1600" b="1" dirty="0">
                <a:solidFill>
                  <a:srgbClr val="CFE0F5"/>
                </a:solidFill>
                <a:latin typeface="Cambria" pitchFamily="34" charset="0"/>
                <a:ea typeface="Cambria" pitchFamily="34" charset="-122"/>
                <a:cs typeface="Cambria" pitchFamily="34" charset="-120"/>
              </a:rPr>
              <a:t>2</a:t>
            </a:r>
            <a:endParaRPr lang="en-US" sz="1600" dirty="0"/>
          </a:p>
        </p:txBody>
      </p:sp>
      <p:sp>
        <p:nvSpPr>
          <p:cNvPr id="13" name="Shape 9"/>
          <p:cNvSpPr/>
          <p:nvPr/>
        </p:nvSpPr>
        <p:spPr>
          <a:xfrm>
            <a:off x="2464308" y="3255264"/>
            <a:ext cx="713232" cy="713232"/>
          </a:xfrm>
          <a:prstGeom prst="ellipse">
            <a:avLst/>
          </a:prstGeom>
          <a:solidFill>
            <a:srgbClr val="12294B"/>
          </a:solidFill>
          <a:ln/>
        </p:spPr>
      </p:sp>
      <p:pic>
        <p:nvPicPr>
          <p:cNvPr id="14" name="Image 2" descr="/private/tmp/claude-501/-Users-prashantrohidaskamble-Desktop-courier-management/e0ec2727-54e8-4bc0-83a4-c389b4bb4ea6/scratchpad/courier-ppt/icons/clipboardList_amber.png">    </p:cNvPr>
          <p:cNvPicPr>
            <a:picLocks noChangeAspect="1"/>
          </p:cNvPicPr>
          <p:nvPr/>
        </p:nvPicPr>
        <p:blipFill>
          <a:blip r:embed="rId3"/>
          <a:stretch>
            <a:fillRect/>
          </a:stretch>
        </p:blipFill>
        <p:spPr>
          <a:xfrm>
            <a:off x="2635484" y="3426440"/>
            <a:ext cx="370881" cy="370881"/>
          </a:xfrm>
          <a:prstGeom prst="rect">
            <a:avLst/>
          </a:prstGeom>
        </p:spPr>
      </p:pic>
      <p:sp>
        <p:nvSpPr>
          <p:cNvPr id="15" name="Text 10"/>
          <p:cNvSpPr/>
          <p:nvPr/>
        </p:nvSpPr>
        <p:spPr>
          <a:xfrm>
            <a:off x="2167128" y="4114800"/>
            <a:ext cx="1307592" cy="822960"/>
          </a:xfrm>
          <a:prstGeom prst="rect">
            <a:avLst/>
          </a:prstGeom>
          <a:noFill/>
          <a:ln/>
        </p:spPr>
        <p:txBody>
          <a:bodyPr wrap="square" lIns="0" tIns="0" rIns="0" bIns="0" rtlCol="0" anchor="t"/>
          <a:lstStyle/>
          <a:p>
            <a:pPr algn="ctr" indent="0" marL="0">
              <a:buNone/>
            </a:pPr>
            <a:r>
              <a:rPr lang="en-US" sz="1150" b="1" dirty="0">
                <a:solidFill>
                  <a:srgbClr val="12294B"/>
                </a:solidFill>
                <a:latin typeface="Calibri" pitchFamily="34" charset="0"/>
                <a:ea typeface="Calibri" pitchFamily="34" charset="-122"/>
                <a:cs typeface="Calibri" pitchFamily="34" charset="-120"/>
              </a:rPr>
              <a:t>Loading Sheet</a:t>
            </a:r>
            <a:endParaRPr lang="en-US" sz="1150" dirty="0"/>
          </a:p>
        </p:txBody>
      </p:sp>
      <p:pic>
        <p:nvPicPr>
          <p:cNvPr id="16" name="Image 3" descr="/private/tmp/claude-501/-Users-prashantrohidaskamble-Desktop-courier-management/e0ec2727-54e8-4bc0-83a4-c389b4bb4ea6/scratchpad/courier-ppt/icons/arrowRight_slate.png">    </p:cNvPr>
          <p:cNvPicPr>
            <a:picLocks noChangeAspect="1"/>
          </p:cNvPicPr>
          <p:nvPr/>
        </p:nvPicPr>
        <p:blipFill>
          <a:blip r:embed="rId4"/>
          <a:stretch>
            <a:fillRect/>
          </a:stretch>
        </p:blipFill>
        <p:spPr>
          <a:xfrm>
            <a:off x="3547872" y="3794760"/>
            <a:ext cx="182880" cy="182880"/>
          </a:xfrm>
          <a:prstGeom prst="rect">
            <a:avLst/>
          </a:prstGeom>
        </p:spPr>
      </p:pic>
      <p:sp>
        <p:nvSpPr>
          <p:cNvPr id="17" name="Shape 11"/>
          <p:cNvSpPr/>
          <p:nvPr/>
        </p:nvSpPr>
        <p:spPr>
          <a:xfrm>
            <a:off x="3675888" y="2743200"/>
            <a:ext cx="1417320" cy="2286000"/>
          </a:xfrm>
          <a:prstGeom prst="roundRect">
            <a:avLst>
              <a:gd name="adj" fmla="val 5161"/>
            </a:avLst>
          </a:prstGeom>
          <a:solidFill>
            <a:srgbClr val="FFFFFF"/>
          </a:solidFill>
          <a:ln/>
          <a:effectLst>
            <a:outerShdw sx="100000" sy="100000" kx="0" ky="0" algn="bl" rotWithShape="0" blurRad="101600" dist="38100" dir="5400000">
              <a:srgbClr val="1B2A47">
                <a:alpha val="18000"/>
              </a:srgbClr>
            </a:outerShdw>
          </a:effectLst>
        </p:spPr>
      </p:sp>
      <p:sp>
        <p:nvSpPr>
          <p:cNvPr id="18" name="Text 12"/>
          <p:cNvSpPr/>
          <p:nvPr/>
        </p:nvSpPr>
        <p:spPr>
          <a:xfrm>
            <a:off x="3785616" y="2834640"/>
            <a:ext cx="548640" cy="365760"/>
          </a:xfrm>
          <a:prstGeom prst="rect">
            <a:avLst/>
          </a:prstGeom>
          <a:noFill/>
          <a:ln/>
        </p:spPr>
        <p:txBody>
          <a:bodyPr wrap="square" lIns="0" tIns="0" rIns="0" bIns="0" rtlCol="0" anchor="ctr"/>
          <a:lstStyle/>
          <a:p>
            <a:pPr indent="0" marL="0">
              <a:buNone/>
            </a:pPr>
            <a:r>
              <a:rPr lang="en-US" sz="1600" b="1" dirty="0">
                <a:solidFill>
                  <a:srgbClr val="CFE0F5"/>
                </a:solidFill>
                <a:latin typeface="Cambria" pitchFamily="34" charset="0"/>
                <a:ea typeface="Cambria" pitchFamily="34" charset="-122"/>
                <a:cs typeface="Cambria" pitchFamily="34" charset="-120"/>
              </a:rPr>
              <a:t>3</a:t>
            </a:r>
            <a:endParaRPr lang="en-US" sz="1600" dirty="0"/>
          </a:p>
        </p:txBody>
      </p:sp>
      <p:sp>
        <p:nvSpPr>
          <p:cNvPr id="19" name="Shape 13"/>
          <p:cNvSpPr/>
          <p:nvPr/>
        </p:nvSpPr>
        <p:spPr>
          <a:xfrm>
            <a:off x="4027932" y="3255264"/>
            <a:ext cx="713232" cy="713232"/>
          </a:xfrm>
          <a:prstGeom prst="ellipse">
            <a:avLst/>
          </a:prstGeom>
          <a:solidFill>
            <a:srgbClr val="12294B"/>
          </a:solidFill>
          <a:ln/>
        </p:spPr>
      </p:sp>
      <p:pic>
        <p:nvPicPr>
          <p:cNvPr id="20" name="Image 4" descr="/private/tmp/claude-501/-Users-prashantrohidaskamble-Desktop-courier-management/e0ec2727-54e8-4bc0-83a4-c389b4bb4ea6/scratchpad/courier-ppt/icons/car_amber.png">    </p:cNvPr>
          <p:cNvPicPr>
            <a:picLocks noChangeAspect="1"/>
          </p:cNvPicPr>
          <p:nvPr/>
        </p:nvPicPr>
        <p:blipFill>
          <a:blip r:embed="rId5"/>
          <a:stretch>
            <a:fillRect/>
          </a:stretch>
        </p:blipFill>
        <p:spPr>
          <a:xfrm>
            <a:off x="4199108" y="3426440"/>
            <a:ext cx="370881" cy="370881"/>
          </a:xfrm>
          <a:prstGeom prst="rect">
            <a:avLst/>
          </a:prstGeom>
        </p:spPr>
      </p:pic>
      <p:sp>
        <p:nvSpPr>
          <p:cNvPr id="21" name="Text 14"/>
          <p:cNvSpPr/>
          <p:nvPr/>
        </p:nvSpPr>
        <p:spPr>
          <a:xfrm>
            <a:off x="3730752" y="4114800"/>
            <a:ext cx="1307592" cy="822960"/>
          </a:xfrm>
          <a:prstGeom prst="rect">
            <a:avLst/>
          </a:prstGeom>
          <a:noFill/>
          <a:ln/>
        </p:spPr>
        <p:txBody>
          <a:bodyPr wrap="square" lIns="0" tIns="0" rIns="0" bIns="0" rtlCol="0" anchor="t"/>
          <a:lstStyle/>
          <a:p>
            <a:pPr algn="ctr" indent="0" marL="0">
              <a:buNone/>
            </a:pPr>
            <a:r>
              <a:rPr lang="en-US" sz="1150" b="1" dirty="0">
                <a:solidFill>
                  <a:srgbClr val="12294B"/>
                </a:solidFill>
                <a:latin typeface="Calibri" pitchFamily="34" charset="0"/>
                <a:ea typeface="Calibri" pitchFamily="34" charset="-122"/>
                <a:cs typeface="Calibri" pitchFamily="34" charset="-120"/>
              </a:rPr>
              <a:t>THC</a:t>
            </a:r>
            <a:endParaRPr lang="en-US" sz="1150" dirty="0"/>
          </a:p>
        </p:txBody>
      </p:sp>
      <p:pic>
        <p:nvPicPr>
          <p:cNvPr id="22" name="Image 5" descr="/private/tmp/claude-501/-Users-prashantrohidaskamble-Desktop-courier-management/e0ec2727-54e8-4bc0-83a4-c389b4bb4ea6/scratchpad/courier-ppt/icons/arrowRight_slate.png">    </p:cNvPr>
          <p:cNvPicPr>
            <a:picLocks noChangeAspect="1"/>
          </p:cNvPicPr>
          <p:nvPr/>
        </p:nvPicPr>
        <p:blipFill>
          <a:blip r:embed="rId6"/>
          <a:stretch>
            <a:fillRect/>
          </a:stretch>
        </p:blipFill>
        <p:spPr>
          <a:xfrm>
            <a:off x="5111496" y="3794760"/>
            <a:ext cx="182880" cy="182880"/>
          </a:xfrm>
          <a:prstGeom prst="rect">
            <a:avLst/>
          </a:prstGeom>
        </p:spPr>
      </p:pic>
      <p:sp>
        <p:nvSpPr>
          <p:cNvPr id="23" name="Shape 15"/>
          <p:cNvSpPr/>
          <p:nvPr/>
        </p:nvSpPr>
        <p:spPr>
          <a:xfrm>
            <a:off x="5239512" y="2743200"/>
            <a:ext cx="1417320" cy="2286000"/>
          </a:xfrm>
          <a:prstGeom prst="roundRect">
            <a:avLst>
              <a:gd name="adj" fmla="val 5161"/>
            </a:avLst>
          </a:prstGeom>
          <a:solidFill>
            <a:srgbClr val="FFFFFF"/>
          </a:solidFill>
          <a:ln/>
          <a:effectLst>
            <a:outerShdw sx="100000" sy="100000" kx="0" ky="0" algn="bl" rotWithShape="0" blurRad="101600" dist="38100" dir="5400000">
              <a:srgbClr val="1B2A47">
                <a:alpha val="18000"/>
              </a:srgbClr>
            </a:outerShdw>
          </a:effectLst>
        </p:spPr>
      </p:sp>
      <p:sp>
        <p:nvSpPr>
          <p:cNvPr id="24" name="Text 16"/>
          <p:cNvSpPr/>
          <p:nvPr/>
        </p:nvSpPr>
        <p:spPr>
          <a:xfrm>
            <a:off x="5349240" y="2834640"/>
            <a:ext cx="548640" cy="365760"/>
          </a:xfrm>
          <a:prstGeom prst="rect">
            <a:avLst/>
          </a:prstGeom>
          <a:noFill/>
          <a:ln/>
        </p:spPr>
        <p:txBody>
          <a:bodyPr wrap="square" lIns="0" tIns="0" rIns="0" bIns="0" rtlCol="0" anchor="ctr"/>
          <a:lstStyle/>
          <a:p>
            <a:pPr indent="0" marL="0">
              <a:buNone/>
            </a:pPr>
            <a:r>
              <a:rPr lang="en-US" sz="1600" b="1" dirty="0">
                <a:solidFill>
                  <a:srgbClr val="CFE0F5"/>
                </a:solidFill>
                <a:latin typeface="Cambria" pitchFamily="34" charset="0"/>
                <a:ea typeface="Cambria" pitchFamily="34" charset="-122"/>
                <a:cs typeface="Cambria" pitchFamily="34" charset="-120"/>
              </a:rPr>
              <a:t>4</a:t>
            </a:r>
            <a:endParaRPr lang="en-US" sz="1600" dirty="0"/>
          </a:p>
        </p:txBody>
      </p:sp>
      <p:sp>
        <p:nvSpPr>
          <p:cNvPr id="25" name="Shape 17"/>
          <p:cNvSpPr/>
          <p:nvPr/>
        </p:nvSpPr>
        <p:spPr>
          <a:xfrm>
            <a:off x="5591556" y="3255264"/>
            <a:ext cx="713232" cy="713232"/>
          </a:xfrm>
          <a:prstGeom prst="ellipse">
            <a:avLst/>
          </a:prstGeom>
          <a:solidFill>
            <a:srgbClr val="12294B"/>
          </a:solidFill>
          <a:ln/>
        </p:spPr>
      </p:sp>
      <p:pic>
        <p:nvPicPr>
          <p:cNvPr id="26" name="Image 6" descr="/private/tmp/claude-501/-Users-prashantrohidaskamble-Desktop-courier-management/e0ec2727-54e8-4bc0-83a4-c389b4bb4ea6/scratchpad/courier-ppt/icons/barcode_amber.png">    </p:cNvPr>
          <p:cNvPicPr>
            <a:picLocks noChangeAspect="1"/>
          </p:cNvPicPr>
          <p:nvPr/>
        </p:nvPicPr>
        <p:blipFill>
          <a:blip r:embed="rId7"/>
          <a:stretch>
            <a:fillRect/>
          </a:stretch>
        </p:blipFill>
        <p:spPr>
          <a:xfrm>
            <a:off x="5762732" y="3426440"/>
            <a:ext cx="370881" cy="370881"/>
          </a:xfrm>
          <a:prstGeom prst="rect">
            <a:avLst/>
          </a:prstGeom>
        </p:spPr>
      </p:pic>
      <p:sp>
        <p:nvSpPr>
          <p:cNvPr id="27" name="Text 18"/>
          <p:cNvSpPr/>
          <p:nvPr/>
        </p:nvSpPr>
        <p:spPr>
          <a:xfrm>
            <a:off x="5294376" y="4114800"/>
            <a:ext cx="1307592" cy="822960"/>
          </a:xfrm>
          <a:prstGeom prst="rect">
            <a:avLst/>
          </a:prstGeom>
          <a:noFill/>
          <a:ln/>
        </p:spPr>
        <p:txBody>
          <a:bodyPr wrap="square" lIns="0" tIns="0" rIns="0" bIns="0" rtlCol="0" anchor="t"/>
          <a:lstStyle/>
          <a:p>
            <a:pPr algn="ctr" indent="0" marL="0">
              <a:buNone/>
            </a:pPr>
            <a:r>
              <a:rPr lang="en-US" sz="1150" b="1" dirty="0">
                <a:solidFill>
                  <a:srgbClr val="12294B"/>
                </a:solidFill>
                <a:latin typeface="Calibri" pitchFamily="34" charset="0"/>
                <a:ea typeface="Calibri" pitchFamily="34" charset="-122"/>
                <a:cs typeface="Calibri" pitchFamily="34" charset="-120"/>
              </a:rPr>
              <a:t>In Scan</a:t>
            </a:r>
            <a:endParaRPr lang="en-US" sz="1150" dirty="0"/>
          </a:p>
        </p:txBody>
      </p:sp>
      <p:pic>
        <p:nvPicPr>
          <p:cNvPr id="28" name="Image 7" descr="/private/tmp/claude-501/-Users-prashantrohidaskamble-Desktop-courier-management/e0ec2727-54e8-4bc0-83a4-c389b4bb4ea6/scratchpad/courier-ppt/icons/arrowRight_slate.png">    </p:cNvPr>
          <p:cNvPicPr>
            <a:picLocks noChangeAspect="1"/>
          </p:cNvPicPr>
          <p:nvPr/>
        </p:nvPicPr>
        <p:blipFill>
          <a:blip r:embed="rId8"/>
          <a:stretch>
            <a:fillRect/>
          </a:stretch>
        </p:blipFill>
        <p:spPr>
          <a:xfrm>
            <a:off x="6675120" y="3794760"/>
            <a:ext cx="182880" cy="182880"/>
          </a:xfrm>
          <a:prstGeom prst="rect">
            <a:avLst/>
          </a:prstGeom>
        </p:spPr>
      </p:pic>
      <p:sp>
        <p:nvSpPr>
          <p:cNvPr id="29" name="Shape 19"/>
          <p:cNvSpPr/>
          <p:nvPr/>
        </p:nvSpPr>
        <p:spPr>
          <a:xfrm>
            <a:off x="6803136" y="2743200"/>
            <a:ext cx="1417320" cy="2286000"/>
          </a:xfrm>
          <a:prstGeom prst="roundRect">
            <a:avLst>
              <a:gd name="adj" fmla="val 5161"/>
            </a:avLst>
          </a:prstGeom>
          <a:solidFill>
            <a:srgbClr val="FFFFFF"/>
          </a:solidFill>
          <a:ln/>
          <a:effectLst>
            <a:outerShdw sx="100000" sy="100000" kx="0" ky="0" algn="bl" rotWithShape="0" blurRad="101600" dist="38100" dir="5400000">
              <a:srgbClr val="1B2A47">
                <a:alpha val="18000"/>
              </a:srgbClr>
            </a:outerShdw>
          </a:effectLst>
        </p:spPr>
      </p:sp>
      <p:sp>
        <p:nvSpPr>
          <p:cNvPr id="30" name="Text 20"/>
          <p:cNvSpPr/>
          <p:nvPr/>
        </p:nvSpPr>
        <p:spPr>
          <a:xfrm>
            <a:off x="6912864" y="2834640"/>
            <a:ext cx="548640" cy="365760"/>
          </a:xfrm>
          <a:prstGeom prst="rect">
            <a:avLst/>
          </a:prstGeom>
          <a:noFill/>
          <a:ln/>
        </p:spPr>
        <p:txBody>
          <a:bodyPr wrap="square" lIns="0" tIns="0" rIns="0" bIns="0" rtlCol="0" anchor="ctr"/>
          <a:lstStyle/>
          <a:p>
            <a:pPr indent="0" marL="0">
              <a:buNone/>
            </a:pPr>
            <a:r>
              <a:rPr lang="en-US" sz="1600" b="1" dirty="0">
                <a:solidFill>
                  <a:srgbClr val="CFE0F5"/>
                </a:solidFill>
                <a:latin typeface="Cambria" pitchFamily="34" charset="0"/>
                <a:ea typeface="Cambria" pitchFamily="34" charset="-122"/>
                <a:cs typeface="Cambria" pitchFamily="34" charset="-120"/>
              </a:rPr>
              <a:t>5</a:t>
            </a:r>
            <a:endParaRPr lang="en-US" sz="1600" dirty="0"/>
          </a:p>
        </p:txBody>
      </p:sp>
      <p:sp>
        <p:nvSpPr>
          <p:cNvPr id="31" name="Shape 21"/>
          <p:cNvSpPr/>
          <p:nvPr/>
        </p:nvSpPr>
        <p:spPr>
          <a:xfrm>
            <a:off x="7155180" y="3255264"/>
            <a:ext cx="713232" cy="713232"/>
          </a:xfrm>
          <a:prstGeom prst="ellipse">
            <a:avLst/>
          </a:prstGeom>
          <a:solidFill>
            <a:srgbClr val="12294B"/>
          </a:solidFill>
          <a:ln/>
        </p:spPr>
      </p:sp>
      <p:pic>
        <p:nvPicPr>
          <p:cNvPr id="32" name="Image 8" descr="/private/tmp/claude-501/-Users-prashantrohidaskamble-Desktop-courier-management/e0ec2727-54e8-4bc0-83a4-c389b4bb4ea6/scratchpad/courier-ppt/icons/userTie_amber.png">    </p:cNvPr>
          <p:cNvPicPr>
            <a:picLocks noChangeAspect="1"/>
          </p:cNvPicPr>
          <p:nvPr/>
        </p:nvPicPr>
        <p:blipFill>
          <a:blip r:embed="rId9"/>
          <a:stretch>
            <a:fillRect/>
          </a:stretch>
        </p:blipFill>
        <p:spPr>
          <a:xfrm>
            <a:off x="7326356" y="3426440"/>
            <a:ext cx="370881" cy="370881"/>
          </a:xfrm>
          <a:prstGeom prst="rect">
            <a:avLst/>
          </a:prstGeom>
        </p:spPr>
      </p:pic>
      <p:sp>
        <p:nvSpPr>
          <p:cNvPr id="33" name="Text 22"/>
          <p:cNvSpPr/>
          <p:nvPr/>
        </p:nvSpPr>
        <p:spPr>
          <a:xfrm>
            <a:off x="6858000" y="4114800"/>
            <a:ext cx="1307592" cy="822960"/>
          </a:xfrm>
          <a:prstGeom prst="rect">
            <a:avLst/>
          </a:prstGeom>
          <a:noFill/>
          <a:ln/>
        </p:spPr>
        <p:txBody>
          <a:bodyPr wrap="square" lIns="0" tIns="0" rIns="0" bIns="0" rtlCol="0" anchor="t"/>
          <a:lstStyle/>
          <a:p>
            <a:pPr algn="ctr" indent="0" marL="0">
              <a:buNone/>
            </a:pPr>
            <a:r>
              <a:rPr lang="en-US" sz="1150" b="1" dirty="0">
                <a:solidFill>
                  <a:srgbClr val="12294B"/>
                </a:solidFill>
                <a:latin typeface="Calibri" pitchFamily="34" charset="0"/>
                <a:ea typeface="Calibri" pitchFamily="34" charset="-122"/>
                <a:cs typeface="Calibri" pitchFamily="34" charset="-120"/>
              </a:rPr>
              <a:t>DRS</a:t>
            </a:r>
            <a:endParaRPr lang="en-US" sz="1150" dirty="0"/>
          </a:p>
        </p:txBody>
      </p:sp>
      <p:pic>
        <p:nvPicPr>
          <p:cNvPr id="34" name="Image 9" descr="/private/tmp/claude-501/-Users-prashantrohidaskamble-Desktop-courier-management/e0ec2727-54e8-4bc0-83a4-c389b4bb4ea6/scratchpad/courier-ppt/icons/arrowRight_slate.png">    </p:cNvPr>
          <p:cNvPicPr>
            <a:picLocks noChangeAspect="1"/>
          </p:cNvPicPr>
          <p:nvPr/>
        </p:nvPicPr>
        <p:blipFill>
          <a:blip r:embed="rId10"/>
          <a:stretch>
            <a:fillRect/>
          </a:stretch>
        </p:blipFill>
        <p:spPr>
          <a:xfrm>
            <a:off x="8238744" y="3794760"/>
            <a:ext cx="182880" cy="182880"/>
          </a:xfrm>
          <a:prstGeom prst="rect">
            <a:avLst/>
          </a:prstGeom>
        </p:spPr>
      </p:pic>
      <p:sp>
        <p:nvSpPr>
          <p:cNvPr id="35" name="Shape 23"/>
          <p:cNvSpPr/>
          <p:nvPr/>
        </p:nvSpPr>
        <p:spPr>
          <a:xfrm>
            <a:off x="8366760" y="2743200"/>
            <a:ext cx="1417320" cy="2286000"/>
          </a:xfrm>
          <a:prstGeom prst="roundRect">
            <a:avLst>
              <a:gd name="adj" fmla="val 5161"/>
            </a:avLst>
          </a:prstGeom>
          <a:solidFill>
            <a:srgbClr val="FFFFFF"/>
          </a:solidFill>
          <a:ln/>
          <a:effectLst>
            <a:outerShdw sx="100000" sy="100000" kx="0" ky="0" algn="bl" rotWithShape="0" blurRad="101600" dist="38100" dir="5400000">
              <a:srgbClr val="1B2A47">
                <a:alpha val="18000"/>
              </a:srgbClr>
            </a:outerShdw>
          </a:effectLst>
        </p:spPr>
      </p:sp>
      <p:sp>
        <p:nvSpPr>
          <p:cNvPr id="36" name="Text 24"/>
          <p:cNvSpPr/>
          <p:nvPr/>
        </p:nvSpPr>
        <p:spPr>
          <a:xfrm>
            <a:off x="8476488" y="2834640"/>
            <a:ext cx="548640" cy="365760"/>
          </a:xfrm>
          <a:prstGeom prst="rect">
            <a:avLst/>
          </a:prstGeom>
          <a:noFill/>
          <a:ln/>
        </p:spPr>
        <p:txBody>
          <a:bodyPr wrap="square" lIns="0" tIns="0" rIns="0" bIns="0" rtlCol="0" anchor="ctr"/>
          <a:lstStyle/>
          <a:p>
            <a:pPr indent="0" marL="0">
              <a:buNone/>
            </a:pPr>
            <a:r>
              <a:rPr lang="en-US" sz="1600" b="1" dirty="0">
                <a:solidFill>
                  <a:srgbClr val="CFE0F5"/>
                </a:solidFill>
                <a:latin typeface="Cambria" pitchFamily="34" charset="0"/>
                <a:ea typeface="Cambria" pitchFamily="34" charset="-122"/>
                <a:cs typeface="Cambria" pitchFamily="34" charset="-120"/>
              </a:rPr>
              <a:t>6</a:t>
            </a:r>
            <a:endParaRPr lang="en-US" sz="1600" dirty="0"/>
          </a:p>
        </p:txBody>
      </p:sp>
      <p:sp>
        <p:nvSpPr>
          <p:cNvPr id="37" name="Shape 25"/>
          <p:cNvSpPr/>
          <p:nvPr/>
        </p:nvSpPr>
        <p:spPr>
          <a:xfrm>
            <a:off x="8718804" y="3255264"/>
            <a:ext cx="713232" cy="713232"/>
          </a:xfrm>
          <a:prstGeom prst="ellipse">
            <a:avLst/>
          </a:prstGeom>
          <a:solidFill>
            <a:srgbClr val="12294B"/>
          </a:solidFill>
          <a:ln/>
        </p:spPr>
      </p:sp>
      <p:pic>
        <p:nvPicPr>
          <p:cNvPr id="38" name="Image 10" descr="/private/tmp/claude-501/-Users-prashantrohidaskamble-Desktop-courier-management/e0ec2727-54e8-4bc0-83a4-c389b4bb4ea6/scratchpad/courier-ppt/icons/checkCircle_amber.png">    </p:cNvPr>
          <p:cNvPicPr>
            <a:picLocks noChangeAspect="1"/>
          </p:cNvPicPr>
          <p:nvPr/>
        </p:nvPicPr>
        <p:blipFill>
          <a:blip r:embed="rId11"/>
          <a:stretch>
            <a:fillRect/>
          </a:stretch>
        </p:blipFill>
        <p:spPr>
          <a:xfrm>
            <a:off x="8889980" y="3426440"/>
            <a:ext cx="370881" cy="370881"/>
          </a:xfrm>
          <a:prstGeom prst="rect">
            <a:avLst/>
          </a:prstGeom>
        </p:spPr>
      </p:pic>
      <p:sp>
        <p:nvSpPr>
          <p:cNvPr id="39" name="Text 26"/>
          <p:cNvSpPr/>
          <p:nvPr/>
        </p:nvSpPr>
        <p:spPr>
          <a:xfrm>
            <a:off x="8421624" y="4114800"/>
            <a:ext cx="1307592" cy="822960"/>
          </a:xfrm>
          <a:prstGeom prst="rect">
            <a:avLst/>
          </a:prstGeom>
          <a:noFill/>
          <a:ln/>
        </p:spPr>
        <p:txBody>
          <a:bodyPr wrap="square" lIns="0" tIns="0" rIns="0" bIns="0" rtlCol="0" anchor="t"/>
          <a:lstStyle/>
          <a:p>
            <a:pPr algn="ctr" indent="0" marL="0">
              <a:buNone/>
            </a:pPr>
            <a:r>
              <a:rPr lang="en-US" sz="1150" b="1" dirty="0">
                <a:solidFill>
                  <a:srgbClr val="12294B"/>
                </a:solidFill>
                <a:latin typeface="Calibri" pitchFamily="34" charset="0"/>
                <a:ea typeface="Calibri" pitchFamily="34" charset="-122"/>
                <a:cs typeface="Calibri" pitchFamily="34" charset="-120"/>
              </a:rPr>
              <a:t>Delivery</a:t>
            </a:r>
            <a:endParaRPr lang="en-US" sz="1150" dirty="0"/>
          </a:p>
        </p:txBody>
      </p:sp>
      <p:pic>
        <p:nvPicPr>
          <p:cNvPr id="40" name="Image 11" descr="/private/tmp/claude-501/-Users-prashantrohidaskamble-Desktop-courier-management/e0ec2727-54e8-4bc0-83a4-c389b4bb4ea6/scratchpad/courier-ppt/icons/arrowRight_slate.png">    </p:cNvPr>
          <p:cNvPicPr>
            <a:picLocks noChangeAspect="1"/>
          </p:cNvPicPr>
          <p:nvPr/>
        </p:nvPicPr>
        <p:blipFill>
          <a:blip r:embed="rId12"/>
          <a:stretch>
            <a:fillRect/>
          </a:stretch>
        </p:blipFill>
        <p:spPr>
          <a:xfrm>
            <a:off x="9802368" y="3794760"/>
            <a:ext cx="182880" cy="182880"/>
          </a:xfrm>
          <a:prstGeom prst="rect">
            <a:avLst/>
          </a:prstGeom>
        </p:spPr>
      </p:pic>
      <p:sp>
        <p:nvSpPr>
          <p:cNvPr id="41" name="Shape 27"/>
          <p:cNvSpPr/>
          <p:nvPr/>
        </p:nvSpPr>
        <p:spPr>
          <a:xfrm>
            <a:off x="9930384" y="2743200"/>
            <a:ext cx="1417320" cy="2286000"/>
          </a:xfrm>
          <a:prstGeom prst="roundRect">
            <a:avLst>
              <a:gd name="adj" fmla="val 5161"/>
            </a:avLst>
          </a:prstGeom>
          <a:solidFill>
            <a:srgbClr val="FFFFFF"/>
          </a:solidFill>
          <a:ln/>
          <a:effectLst>
            <a:outerShdw sx="100000" sy="100000" kx="0" ky="0" algn="bl" rotWithShape="0" blurRad="101600" dist="38100" dir="5400000">
              <a:srgbClr val="1B2A47">
                <a:alpha val="18000"/>
              </a:srgbClr>
            </a:outerShdw>
          </a:effectLst>
        </p:spPr>
      </p:sp>
      <p:sp>
        <p:nvSpPr>
          <p:cNvPr id="42" name="Text 28"/>
          <p:cNvSpPr/>
          <p:nvPr/>
        </p:nvSpPr>
        <p:spPr>
          <a:xfrm>
            <a:off x="10040112" y="2834640"/>
            <a:ext cx="548640" cy="365760"/>
          </a:xfrm>
          <a:prstGeom prst="rect">
            <a:avLst/>
          </a:prstGeom>
          <a:noFill/>
          <a:ln/>
        </p:spPr>
        <p:txBody>
          <a:bodyPr wrap="square" lIns="0" tIns="0" rIns="0" bIns="0" rtlCol="0" anchor="ctr"/>
          <a:lstStyle/>
          <a:p>
            <a:pPr indent="0" marL="0">
              <a:buNone/>
            </a:pPr>
            <a:r>
              <a:rPr lang="en-US" sz="1600" b="1" dirty="0">
                <a:solidFill>
                  <a:srgbClr val="CFE0F5"/>
                </a:solidFill>
                <a:latin typeface="Cambria" pitchFamily="34" charset="0"/>
                <a:ea typeface="Cambria" pitchFamily="34" charset="-122"/>
                <a:cs typeface="Cambria" pitchFamily="34" charset="-120"/>
              </a:rPr>
              <a:t>7</a:t>
            </a:r>
            <a:endParaRPr lang="en-US" sz="1600" dirty="0"/>
          </a:p>
        </p:txBody>
      </p:sp>
      <p:sp>
        <p:nvSpPr>
          <p:cNvPr id="43" name="Shape 29"/>
          <p:cNvSpPr/>
          <p:nvPr/>
        </p:nvSpPr>
        <p:spPr>
          <a:xfrm>
            <a:off x="10282428" y="3255264"/>
            <a:ext cx="713232" cy="713232"/>
          </a:xfrm>
          <a:prstGeom prst="ellipse">
            <a:avLst/>
          </a:prstGeom>
          <a:solidFill>
            <a:srgbClr val="12294B"/>
          </a:solidFill>
          <a:ln/>
        </p:spPr>
      </p:sp>
      <p:pic>
        <p:nvPicPr>
          <p:cNvPr id="44" name="Image 12" descr="/private/tmp/claude-501/-Users-prashantrohidaskamble-Desktop-courier-management/e0ec2727-54e8-4bc0-83a4-c389b4bb4ea6/scratchpad/courier-ppt/icons/camera_amber.png">    </p:cNvPr>
          <p:cNvPicPr>
            <a:picLocks noChangeAspect="1"/>
          </p:cNvPicPr>
          <p:nvPr/>
        </p:nvPicPr>
        <p:blipFill>
          <a:blip r:embed="rId13"/>
          <a:stretch>
            <a:fillRect/>
          </a:stretch>
        </p:blipFill>
        <p:spPr>
          <a:xfrm>
            <a:off x="10453604" y="3426440"/>
            <a:ext cx="370881" cy="370881"/>
          </a:xfrm>
          <a:prstGeom prst="rect">
            <a:avLst/>
          </a:prstGeom>
        </p:spPr>
      </p:pic>
      <p:sp>
        <p:nvSpPr>
          <p:cNvPr id="45" name="Text 30"/>
          <p:cNvSpPr/>
          <p:nvPr/>
        </p:nvSpPr>
        <p:spPr>
          <a:xfrm>
            <a:off x="9985248" y="4114800"/>
            <a:ext cx="1307592" cy="822960"/>
          </a:xfrm>
          <a:prstGeom prst="rect">
            <a:avLst/>
          </a:prstGeom>
          <a:noFill/>
          <a:ln/>
        </p:spPr>
        <p:txBody>
          <a:bodyPr wrap="square" lIns="0" tIns="0" rIns="0" bIns="0" rtlCol="0" anchor="t"/>
          <a:lstStyle/>
          <a:p>
            <a:pPr algn="ctr" indent="0" marL="0">
              <a:buNone/>
            </a:pPr>
            <a:r>
              <a:rPr lang="en-US" sz="1150" b="1" dirty="0">
                <a:solidFill>
                  <a:srgbClr val="12294B"/>
                </a:solidFill>
                <a:latin typeface="Calibri" pitchFamily="34" charset="0"/>
                <a:ea typeface="Calibri" pitchFamily="34" charset="-122"/>
                <a:cs typeface="Calibri" pitchFamily="34" charset="-120"/>
              </a:rPr>
              <a:t>POD Upload</a:t>
            </a:r>
            <a:endParaRPr lang="en-US" sz="1150" dirty="0"/>
          </a:p>
        </p:txBody>
      </p:sp>
      <p:sp>
        <p:nvSpPr>
          <p:cNvPr id="46" name="Text 31"/>
          <p:cNvSpPr/>
          <p:nvPr/>
        </p:nvSpPr>
        <p:spPr>
          <a:xfrm>
            <a:off x="548640" y="5349240"/>
            <a:ext cx="10698480" cy="457200"/>
          </a:xfrm>
          <a:prstGeom prst="rect">
            <a:avLst/>
          </a:prstGeom>
          <a:noFill/>
          <a:ln/>
        </p:spPr>
        <p:txBody>
          <a:bodyPr wrap="square" lIns="0" tIns="0" rIns="0" bIns="0" rtlCol="0" anchor="ctr"/>
          <a:lstStyle/>
          <a:p>
            <a:pPr indent="0" marL="0">
              <a:buNone/>
            </a:pPr>
            <a:r>
              <a:rPr lang="en-US" sz="1250" i="1" dirty="0">
                <a:solidFill>
                  <a:srgbClr val="5B7A9D"/>
                </a:solidFill>
                <a:latin typeface="Calibri" pitchFamily="34" charset="0"/>
                <a:ea typeface="Calibri" pitchFamily="34" charset="-122"/>
                <a:cs typeface="Calibri" pitchFamily="34" charset="-120"/>
              </a:rPr>
              <a:t>Booking itself has four parts — pincode &amp; destination, item details, sender &amp; receiver, and payment type — each shown on its own slide next.</a:t>
            </a:r>
            <a:endParaRPr lang="en-US" sz="1250" dirty="0"/>
          </a:p>
        </p:txBody>
      </p:sp>
      <p:sp>
        <p:nvSpPr>
          <p:cNvPr id="48" name="Text 32"/>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92608"/>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BOOKING · STEP 1 OF 4</a:t>
            </a:r>
            <a:endParaRPr lang="en-US" sz="1100" dirty="0"/>
          </a:p>
        </p:txBody>
      </p:sp>
      <p:sp>
        <p:nvSpPr>
          <p:cNvPr id="3" name="Text 1"/>
          <p:cNvSpPr/>
          <p:nvPr/>
        </p:nvSpPr>
        <p:spPr>
          <a:xfrm>
            <a:off x="548640" y="457200"/>
            <a:ext cx="10515600" cy="438912"/>
          </a:xfrm>
          <a:prstGeom prst="rect">
            <a:avLst/>
          </a:prstGeom>
          <a:noFill/>
          <a:ln/>
        </p:spPr>
        <p:txBody>
          <a:bodyPr wrap="square" lIns="0" tIns="0" rIns="0" bIns="0" rtlCol="0" anchor="ctr"/>
          <a:lstStyle/>
          <a:p>
            <a:pPr indent="0" marL="0">
              <a:buNone/>
            </a:pPr>
            <a:r>
              <a:rPr lang="en-US" sz="2300" b="1" dirty="0">
                <a:solidFill>
                  <a:srgbClr val="12294B"/>
                </a:solidFill>
                <a:latin typeface="Cambria" pitchFamily="34" charset="0"/>
                <a:ea typeface="Cambria" pitchFamily="34" charset="-122"/>
                <a:cs typeface="Cambria" pitchFamily="34" charset="-120"/>
              </a:rPr>
              <a:t>Pincode → Destination Area</a:t>
            </a:r>
            <a:endParaRPr lang="en-US" sz="2300" dirty="0"/>
          </a:p>
        </p:txBody>
      </p:sp>
      <p:sp>
        <p:nvSpPr>
          <p:cNvPr id="4" name="Text 2"/>
          <p:cNvSpPr/>
          <p:nvPr/>
        </p:nvSpPr>
        <p:spPr>
          <a:xfrm>
            <a:off x="548640" y="914400"/>
            <a:ext cx="11091672" cy="256032"/>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The operator enters the destination pincode; the system resolves the destination area and prices the freight live, before anything else is filled in.</a:t>
            </a:r>
            <a:endParaRPr lang="en-US" sz="1150" dirty="0"/>
          </a:p>
        </p:txBody>
      </p:sp>
      <p:sp>
        <p:nvSpPr>
          <p:cNvPr id="5" name="Text 3"/>
          <p:cNvSpPr/>
          <p:nvPr/>
        </p:nvSpPr>
        <p:spPr>
          <a:xfrm>
            <a:off x="548640" y="1207008"/>
            <a:ext cx="11091672" cy="256032"/>
          </a:xfrm>
          <a:prstGeom prst="rect">
            <a:avLst/>
          </a:prstGeom>
          <a:noFill/>
          <a:ln/>
        </p:spPr>
        <p:txBody>
          <a:bodyPr wrap="square" lIns="0" tIns="0" rIns="0" bIns="0" rtlCol="0" anchor="ctr"/>
          <a:lstStyle/>
          <a:p>
            <a:pPr algn="l" indent="0" marL="0">
              <a:buNone/>
            </a:pPr>
            <a:r>
              <a:rPr lang="en-US" sz="1100" b="1" dirty="0">
                <a:solidFill>
                  <a:srgbClr val="F2A93B"/>
                </a:solidFill>
                <a:latin typeface="Calibri" pitchFamily="34" charset="0"/>
                <a:ea typeface="Calibri" pitchFamily="34" charset="-122"/>
                <a:cs typeface="Calibri" pitchFamily="34" charset="-120"/>
              </a:rPr>
              <a:t>BOOKING</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LOADING SHEET</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THC</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IN SCAN</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DRS</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DELIVERY</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POD UPLOAD</a:t>
            </a:r>
            <a:endParaRPr lang="en-US" sz="1100" dirty="0"/>
          </a:p>
        </p:txBody>
      </p:sp>
      <p:sp>
        <p:nvSpPr>
          <p:cNvPr id="6" name="Shape 4"/>
          <p:cNvSpPr/>
          <p:nvPr/>
        </p:nvSpPr>
        <p:spPr>
          <a:xfrm>
            <a:off x="2395728" y="1453896"/>
            <a:ext cx="7397496" cy="4984489"/>
          </a:xfrm>
          <a:prstGeom prst="rect">
            <a:avLst/>
          </a:prstGeom>
          <a:solidFill>
            <a:srgbClr val="FFFFFF"/>
          </a:solidFill>
          <a:ln/>
          <a:effectLst>
            <a:outerShdw sx="100000" sy="100000" kx="0" ky="0" algn="bl" rotWithShape="0" blurRad="203200" dist="76200" dir="5400000">
              <a:srgbClr val="000000">
                <a:alpha val="22000"/>
              </a:srgbClr>
            </a:outerShdw>
          </a:effectLst>
        </p:spPr>
      </p:sp>
      <p:pic>
        <p:nvPicPr>
          <p:cNvPr id="7" name="Image 0" descr="/private/tmp/claude-501/-Users-prashantrohidaskamble-Desktop-courier-management/e0ec2727-54e8-4bc0-83a4-c389b4bb4ea6/scratchpad/courier-ppt/shots/cropped/booking_pincode.jpg">    </p:cNvPr>
          <p:cNvPicPr>
            <a:picLocks noChangeAspect="1"/>
          </p:cNvPicPr>
          <p:nvPr/>
        </p:nvPicPr>
        <p:blipFill>
          <a:blip r:embed="rId1"/>
          <a:stretch>
            <a:fillRect/>
          </a:stretch>
        </p:blipFill>
        <p:spPr>
          <a:xfrm>
            <a:off x="2450592" y="1508760"/>
            <a:ext cx="7287768" cy="4874761"/>
          </a:xfrm>
          <a:prstGeom prst="rect">
            <a:avLst/>
          </a:prstGeom>
        </p:spPr>
      </p:pic>
      <p:sp>
        <p:nvSpPr>
          <p:cNvPr id="8" name="Shape 5"/>
          <p:cNvSpPr/>
          <p:nvPr/>
        </p:nvSpPr>
        <p:spPr>
          <a:xfrm>
            <a:off x="2450592" y="1508760"/>
            <a:ext cx="7287768" cy="4874761"/>
          </a:xfrm>
          <a:prstGeom prst="rect">
            <a:avLst/>
          </a:prstGeom>
          <a:ln w="12700">
            <a:solidFill>
              <a:srgbClr val="D8E1EC"/>
            </a:solidFill>
            <a:prstDash val="solid"/>
          </a:ln>
        </p:spPr>
      </p:sp>
      <p:sp>
        <p:nvSpPr>
          <p:cNvPr id="9" name="Text 6"/>
          <p:cNvSpPr/>
          <p:nvPr/>
        </p:nvSpPr>
        <p:spPr>
          <a:xfrm>
            <a:off x="2450592" y="6511537"/>
            <a:ext cx="7287768" cy="274320"/>
          </a:xfrm>
          <a:prstGeom prst="rect">
            <a:avLst/>
          </a:prstGeom>
          <a:noFill/>
          <a:ln/>
        </p:spPr>
        <p:txBody>
          <a:bodyPr wrap="square" lIns="0" tIns="0" rIns="0" bIns="0" rtlCol="0" anchor="ctr"/>
          <a:lstStyle/>
          <a:p>
            <a:pPr algn="ctr" indent="0" marL="0">
              <a:buNone/>
            </a:pPr>
            <a:r>
              <a:rPr lang="en-US" sz="1050" i="1" dirty="0">
                <a:solidFill>
                  <a:srgbClr val="5B7A9D"/>
                </a:solidFill>
                <a:latin typeface="Calibri" pitchFamily="34" charset="0"/>
                <a:ea typeface="Calibri" pitchFamily="34" charset="-122"/>
                <a:cs typeface="Calibri" pitchFamily="34" charset="-120"/>
              </a:rPr>
              <a:t>Destination Area, service type and freight all populate the moment a valid pincode is entered.</a:t>
            </a:r>
            <a:endParaRPr lang="en-US" sz="1050" dirty="0"/>
          </a:p>
        </p:txBody>
      </p:sp>
      <p:sp>
        <p:nvSpPr>
          <p:cNvPr id="10" name="Text 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92608"/>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BOOKING · STEP 2 OF 4</a:t>
            </a:r>
            <a:endParaRPr lang="en-US" sz="1100" dirty="0"/>
          </a:p>
        </p:txBody>
      </p:sp>
      <p:sp>
        <p:nvSpPr>
          <p:cNvPr id="3" name="Text 1"/>
          <p:cNvSpPr/>
          <p:nvPr/>
        </p:nvSpPr>
        <p:spPr>
          <a:xfrm>
            <a:off x="548640" y="457200"/>
            <a:ext cx="10515600" cy="438912"/>
          </a:xfrm>
          <a:prstGeom prst="rect">
            <a:avLst/>
          </a:prstGeom>
          <a:noFill/>
          <a:ln/>
        </p:spPr>
        <p:txBody>
          <a:bodyPr wrap="square" lIns="0" tIns="0" rIns="0" bIns="0" rtlCol="0" anchor="ctr"/>
          <a:lstStyle/>
          <a:p>
            <a:pPr indent="0" marL="0">
              <a:buNone/>
            </a:pPr>
            <a:r>
              <a:rPr lang="en-US" sz="2300" b="1" dirty="0">
                <a:solidFill>
                  <a:srgbClr val="12294B"/>
                </a:solidFill>
                <a:latin typeface="Cambria" pitchFamily="34" charset="0"/>
                <a:ea typeface="Cambria" pitchFamily="34" charset="-122"/>
                <a:cs typeface="Cambria" pitchFamily="34" charset="-120"/>
              </a:rPr>
              <a:t>Item &amp; Package Details</a:t>
            </a:r>
            <a:endParaRPr lang="en-US" sz="2300" dirty="0"/>
          </a:p>
        </p:txBody>
      </p:sp>
      <p:sp>
        <p:nvSpPr>
          <p:cNvPr id="4" name="Text 2"/>
          <p:cNvSpPr/>
          <p:nvPr/>
        </p:nvSpPr>
        <p:spPr>
          <a:xfrm>
            <a:off x="548640" y="914400"/>
            <a:ext cx="11091672" cy="256032"/>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Weight, dimensions and package count are entered next — this is what actually drives the chargeable weight and the freight shown on the right.</a:t>
            </a:r>
            <a:endParaRPr lang="en-US" sz="1150" dirty="0"/>
          </a:p>
        </p:txBody>
      </p:sp>
      <p:sp>
        <p:nvSpPr>
          <p:cNvPr id="5" name="Text 3"/>
          <p:cNvSpPr/>
          <p:nvPr/>
        </p:nvSpPr>
        <p:spPr>
          <a:xfrm>
            <a:off x="548640" y="1207008"/>
            <a:ext cx="11091672" cy="256032"/>
          </a:xfrm>
          <a:prstGeom prst="rect">
            <a:avLst/>
          </a:prstGeom>
          <a:noFill/>
          <a:ln/>
        </p:spPr>
        <p:txBody>
          <a:bodyPr wrap="square" lIns="0" tIns="0" rIns="0" bIns="0" rtlCol="0" anchor="ctr"/>
          <a:lstStyle/>
          <a:p>
            <a:pPr algn="l" indent="0" marL="0">
              <a:buNone/>
            </a:pPr>
            <a:r>
              <a:rPr lang="en-US" sz="1100" b="1" dirty="0">
                <a:solidFill>
                  <a:srgbClr val="F2A93B"/>
                </a:solidFill>
                <a:latin typeface="Calibri" pitchFamily="34" charset="0"/>
                <a:ea typeface="Calibri" pitchFamily="34" charset="-122"/>
                <a:cs typeface="Calibri" pitchFamily="34" charset="-120"/>
              </a:rPr>
              <a:t>BOOKING</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LOADING SHEET</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THC</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IN SCAN</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DRS</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DELIVERY</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POD UPLOAD</a:t>
            </a:r>
            <a:endParaRPr lang="en-US" sz="1100" dirty="0"/>
          </a:p>
        </p:txBody>
      </p:sp>
      <p:sp>
        <p:nvSpPr>
          <p:cNvPr id="6" name="Shape 4"/>
          <p:cNvSpPr/>
          <p:nvPr/>
        </p:nvSpPr>
        <p:spPr>
          <a:xfrm>
            <a:off x="2395728" y="1453896"/>
            <a:ext cx="7397496" cy="4984489"/>
          </a:xfrm>
          <a:prstGeom prst="rect">
            <a:avLst/>
          </a:prstGeom>
          <a:solidFill>
            <a:srgbClr val="FFFFFF"/>
          </a:solidFill>
          <a:ln/>
          <a:effectLst>
            <a:outerShdw sx="100000" sy="100000" kx="0" ky="0" algn="bl" rotWithShape="0" blurRad="203200" dist="76200" dir="5400000">
              <a:srgbClr val="000000">
                <a:alpha val="22000"/>
              </a:srgbClr>
            </a:outerShdw>
          </a:effectLst>
        </p:spPr>
      </p:sp>
      <p:pic>
        <p:nvPicPr>
          <p:cNvPr id="7" name="Image 0" descr="/private/tmp/claude-501/-Users-prashantrohidaskamble-Desktop-courier-management/e0ec2727-54e8-4bc0-83a4-c389b4bb4ea6/scratchpad/courier-ppt/shots/cropped/booking_items.jpg">    </p:cNvPr>
          <p:cNvPicPr>
            <a:picLocks noChangeAspect="1"/>
          </p:cNvPicPr>
          <p:nvPr/>
        </p:nvPicPr>
        <p:blipFill>
          <a:blip r:embed="rId1"/>
          <a:stretch>
            <a:fillRect/>
          </a:stretch>
        </p:blipFill>
        <p:spPr>
          <a:xfrm>
            <a:off x="2450592" y="1508760"/>
            <a:ext cx="7287768" cy="4874761"/>
          </a:xfrm>
          <a:prstGeom prst="rect">
            <a:avLst/>
          </a:prstGeom>
        </p:spPr>
      </p:pic>
      <p:sp>
        <p:nvSpPr>
          <p:cNvPr id="8" name="Shape 5"/>
          <p:cNvSpPr/>
          <p:nvPr/>
        </p:nvSpPr>
        <p:spPr>
          <a:xfrm>
            <a:off x="2450592" y="1508760"/>
            <a:ext cx="7287768" cy="4874761"/>
          </a:xfrm>
          <a:prstGeom prst="rect">
            <a:avLst/>
          </a:prstGeom>
          <a:ln w="12700">
            <a:solidFill>
              <a:srgbClr val="D8E1EC"/>
            </a:solidFill>
            <a:prstDash val="solid"/>
          </a:ln>
        </p:spPr>
      </p:sp>
      <p:sp>
        <p:nvSpPr>
          <p:cNvPr id="9" name="Text 6"/>
          <p:cNvSpPr/>
          <p:nvPr/>
        </p:nvSpPr>
        <p:spPr>
          <a:xfrm>
            <a:off x="2450592" y="6511537"/>
            <a:ext cx="7287768" cy="274320"/>
          </a:xfrm>
          <a:prstGeom prst="rect">
            <a:avLst/>
          </a:prstGeom>
          <a:noFill/>
          <a:ln/>
        </p:spPr>
        <p:txBody>
          <a:bodyPr wrap="square" lIns="0" tIns="0" rIns="0" bIns="0" rtlCol="0" anchor="ctr"/>
          <a:lstStyle/>
          <a:p>
            <a:pPr algn="ctr" indent="0" marL="0">
              <a:buNone/>
            </a:pPr>
            <a:r>
              <a:rPr lang="en-US" sz="1050" i="1" dirty="0">
                <a:solidFill>
                  <a:srgbClr val="5B7A9D"/>
                </a:solidFill>
                <a:latin typeface="Calibri" pitchFamily="34" charset="0"/>
                <a:ea typeface="Calibri" pitchFamily="34" charset="-122"/>
                <a:cs typeface="Calibri" pitchFamily="34" charset="-120"/>
              </a:rPr>
              <a:t>Volumetric weight is calculated from L × W × H automatically and compared against actual weight.</a:t>
            </a:r>
            <a:endParaRPr lang="en-US" sz="1050" dirty="0"/>
          </a:p>
        </p:txBody>
      </p:sp>
      <p:sp>
        <p:nvSpPr>
          <p:cNvPr id="10" name="Text 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92608"/>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BOOKING · STEP 3 OF 4</a:t>
            </a:r>
            <a:endParaRPr lang="en-US" sz="1100" dirty="0"/>
          </a:p>
        </p:txBody>
      </p:sp>
      <p:sp>
        <p:nvSpPr>
          <p:cNvPr id="3" name="Text 1"/>
          <p:cNvSpPr/>
          <p:nvPr/>
        </p:nvSpPr>
        <p:spPr>
          <a:xfrm>
            <a:off x="548640" y="457200"/>
            <a:ext cx="10515600" cy="438912"/>
          </a:xfrm>
          <a:prstGeom prst="rect">
            <a:avLst/>
          </a:prstGeom>
          <a:noFill/>
          <a:ln/>
        </p:spPr>
        <p:txBody>
          <a:bodyPr wrap="square" lIns="0" tIns="0" rIns="0" bIns="0" rtlCol="0" anchor="ctr"/>
          <a:lstStyle/>
          <a:p>
            <a:pPr indent="0" marL="0">
              <a:buNone/>
            </a:pPr>
            <a:r>
              <a:rPr lang="en-US" sz="2300" b="1" dirty="0">
                <a:solidFill>
                  <a:srgbClr val="12294B"/>
                </a:solidFill>
                <a:latin typeface="Cambria" pitchFamily="34" charset="0"/>
                <a:ea typeface="Cambria" pitchFamily="34" charset="-122"/>
                <a:cs typeface="Cambria" pitchFamily="34" charset="-120"/>
              </a:rPr>
              <a:t>Sender &amp; Receiver Details</a:t>
            </a:r>
            <a:endParaRPr lang="en-US" sz="2300" dirty="0"/>
          </a:p>
        </p:txBody>
      </p:sp>
      <p:sp>
        <p:nvSpPr>
          <p:cNvPr id="4" name="Text 2"/>
          <p:cNvSpPr/>
          <p:nvPr/>
        </p:nvSpPr>
        <p:spPr>
          <a:xfrm>
            <a:off x="548640" y="914400"/>
            <a:ext cx="11091672" cy="256032"/>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Consignor and consignee — name, address and contact number — are captured side by side in the Parties section.</a:t>
            </a:r>
            <a:endParaRPr lang="en-US" sz="1150" dirty="0"/>
          </a:p>
        </p:txBody>
      </p:sp>
      <p:sp>
        <p:nvSpPr>
          <p:cNvPr id="5" name="Text 3"/>
          <p:cNvSpPr/>
          <p:nvPr/>
        </p:nvSpPr>
        <p:spPr>
          <a:xfrm>
            <a:off x="548640" y="1207008"/>
            <a:ext cx="11091672" cy="256032"/>
          </a:xfrm>
          <a:prstGeom prst="rect">
            <a:avLst/>
          </a:prstGeom>
          <a:noFill/>
          <a:ln/>
        </p:spPr>
        <p:txBody>
          <a:bodyPr wrap="square" lIns="0" tIns="0" rIns="0" bIns="0" rtlCol="0" anchor="ctr"/>
          <a:lstStyle/>
          <a:p>
            <a:pPr algn="l" indent="0" marL="0">
              <a:buNone/>
            </a:pPr>
            <a:r>
              <a:rPr lang="en-US" sz="1100" b="1" dirty="0">
                <a:solidFill>
                  <a:srgbClr val="F2A93B"/>
                </a:solidFill>
                <a:latin typeface="Calibri" pitchFamily="34" charset="0"/>
                <a:ea typeface="Calibri" pitchFamily="34" charset="-122"/>
                <a:cs typeface="Calibri" pitchFamily="34" charset="-120"/>
              </a:rPr>
              <a:t>BOOKING</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LOADING SHEET</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THC</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IN SCAN</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DRS</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DELIVERY</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POD UPLOAD</a:t>
            </a:r>
            <a:endParaRPr lang="en-US" sz="1100" dirty="0"/>
          </a:p>
        </p:txBody>
      </p:sp>
      <p:sp>
        <p:nvSpPr>
          <p:cNvPr id="6" name="Shape 4"/>
          <p:cNvSpPr/>
          <p:nvPr/>
        </p:nvSpPr>
        <p:spPr>
          <a:xfrm>
            <a:off x="2395728" y="1453896"/>
            <a:ext cx="7397496" cy="4984489"/>
          </a:xfrm>
          <a:prstGeom prst="rect">
            <a:avLst/>
          </a:prstGeom>
          <a:solidFill>
            <a:srgbClr val="FFFFFF"/>
          </a:solidFill>
          <a:ln/>
          <a:effectLst>
            <a:outerShdw sx="100000" sy="100000" kx="0" ky="0" algn="bl" rotWithShape="0" blurRad="203200" dist="76200" dir="5400000">
              <a:srgbClr val="000000">
                <a:alpha val="22000"/>
              </a:srgbClr>
            </a:outerShdw>
          </a:effectLst>
        </p:spPr>
      </p:sp>
      <p:pic>
        <p:nvPicPr>
          <p:cNvPr id="7" name="Image 0" descr="/private/tmp/claude-501/-Users-prashantrohidaskamble-Desktop-courier-management/e0ec2727-54e8-4bc0-83a4-c389b4bb4ea6/scratchpad/courier-ppt/shots/cropped/booking_sender.jpg">    </p:cNvPr>
          <p:cNvPicPr>
            <a:picLocks noChangeAspect="1"/>
          </p:cNvPicPr>
          <p:nvPr/>
        </p:nvPicPr>
        <p:blipFill>
          <a:blip r:embed="rId1"/>
          <a:stretch>
            <a:fillRect/>
          </a:stretch>
        </p:blipFill>
        <p:spPr>
          <a:xfrm>
            <a:off x="2450592" y="1508760"/>
            <a:ext cx="7287768" cy="4874761"/>
          </a:xfrm>
          <a:prstGeom prst="rect">
            <a:avLst/>
          </a:prstGeom>
        </p:spPr>
      </p:pic>
      <p:sp>
        <p:nvSpPr>
          <p:cNvPr id="8" name="Shape 5"/>
          <p:cNvSpPr/>
          <p:nvPr/>
        </p:nvSpPr>
        <p:spPr>
          <a:xfrm>
            <a:off x="2450592" y="1508760"/>
            <a:ext cx="7287768" cy="4874761"/>
          </a:xfrm>
          <a:prstGeom prst="rect">
            <a:avLst/>
          </a:prstGeom>
          <a:ln w="12700">
            <a:solidFill>
              <a:srgbClr val="D8E1EC"/>
            </a:solidFill>
            <a:prstDash val="solid"/>
          </a:ln>
        </p:spPr>
      </p:sp>
      <p:sp>
        <p:nvSpPr>
          <p:cNvPr id="9" name="Text 6"/>
          <p:cNvSpPr/>
          <p:nvPr/>
        </p:nvSpPr>
        <p:spPr>
          <a:xfrm>
            <a:off x="2450592" y="6511537"/>
            <a:ext cx="7287768" cy="274320"/>
          </a:xfrm>
          <a:prstGeom prst="rect">
            <a:avLst/>
          </a:prstGeom>
          <a:noFill/>
          <a:ln/>
        </p:spPr>
        <p:txBody>
          <a:bodyPr wrap="square" lIns="0" tIns="0" rIns="0" bIns="0" rtlCol="0" anchor="ctr"/>
          <a:lstStyle/>
          <a:p>
            <a:pPr algn="ctr" indent="0" marL="0">
              <a:buNone/>
            </a:pPr>
            <a:r>
              <a:rPr lang="en-US" sz="1050" i="1" dirty="0">
                <a:solidFill>
                  <a:srgbClr val="5B7A9D"/>
                </a:solidFill>
                <a:latin typeface="Calibri" pitchFamily="34" charset="0"/>
                <a:ea typeface="Calibri" pitchFamily="34" charset="-122"/>
                <a:cs typeface="Calibri" pitchFamily="34" charset="-120"/>
              </a:rPr>
              <a:t>Pincode on each side lets the same pincode-driven pricing logic apply to pickup as well as delivery.</a:t>
            </a:r>
            <a:endParaRPr lang="en-US" sz="1050" dirty="0"/>
          </a:p>
        </p:txBody>
      </p:sp>
      <p:sp>
        <p:nvSpPr>
          <p:cNvPr id="10" name="Text 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92608"/>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BOOKING · STEP 4 OF 4</a:t>
            </a:r>
            <a:endParaRPr lang="en-US" sz="1100" dirty="0"/>
          </a:p>
        </p:txBody>
      </p:sp>
      <p:sp>
        <p:nvSpPr>
          <p:cNvPr id="3" name="Text 1"/>
          <p:cNvSpPr/>
          <p:nvPr/>
        </p:nvSpPr>
        <p:spPr>
          <a:xfrm>
            <a:off x="548640" y="457200"/>
            <a:ext cx="10515600" cy="438912"/>
          </a:xfrm>
          <a:prstGeom prst="rect">
            <a:avLst/>
          </a:prstGeom>
          <a:noFill/>
          <a:ln/>
        </p:spPr>
        <p:txBody>
          <a:bodyPr wrap="square" lIns="0" tIns="0" rIns="0" bIns="0" rtlCol="0" anchor="ctr"/>
          <a:lstStyle/>
          <a:p>
            <a:pPr indent="0" marL="0">
              <a:buNone/>
            </a:pPr>
            <a:r>
              <a:rPr lang="en-US" sz="2300" b="1" dirty="0">
                <a:solidFill>
                  <a:srgbClr val="12294B"/>
                </a:solidFill>
                <a:latin typeface="Cambria" pitchFamily="34" charset="0"/>
                <a:ea typeface="Cambria" pitchFamily="34" charset="-122"/>
                <a:cs typeface="Cambria" pitchFamily="34" charset="-120"/>
              </a:rPr>
              <a:t>Payment Type Selection</a:t>
            </a:r>
            <a:endParaRPr lang="en-US" sz="2300" dirty="0"/>
          </a:p>
        </p:txBody>
      </p:sp>
      <p:sp>
        <p:nvSpPr>
          <p:cNvPr id="4" name="Text 2"/>
          <p:cNvSpPr/>
          <p:nvPr/>
        </p:nvSpPr>
        <p:spPr>
          <a:xfrm>
            <a:off x="548640" y="914400"/>
            <a:ext cx="11091672" cy="256032"/>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The last decision before booking: how this shipment gets paid for — Paid, To Pay, To Be Billed, or Cash on Delivery.</a:t>
            </a:r>
            <a:endParaRPr lang="en-US" sz="1150" dirty="0"/>
          </a:p>
        </p:txBody>
      </p:sp>
      <p:sp>
        <p:nvSpPr>
          <p:cNvPr id="5" name="Text 3"/>
          <p:cNvSpPr/>
          <p:nvPr/>
        </p:nvSpPr>
        <p:spPr>
          <a:xfrm>
            <a:off x="548640" y="1207008"/>
            <a:ext cx="11091672" cy="256032"/>
          </a:xfrm>
          <a:prstGeom prst="rect">
            <a:avLst/>
          </a:prstGeom>
          <a:noFill/>
          <a:ln/>
        </p:spPr>
        <p:txBody>
          <a:bodyPr wrap="square" lIns="0" tIns="0" rIns="0" bIns="0" rtlCol="0" anchor="ctr"/>
          <a:lstStyle/>
          <a:p>
            <a:pPr algn="l" indent="0" marL="0">
              <a:buNone/>
            </a:pPr>
            <a:r>
              <a:rPr lang="en-US" sz="1100" b="1" dirty="0">
                <a:solidFill>
                  <a:srgbClr val="F2A93B"/>
                </a:solidFill>
                <a:latin typeface="Calibri" pitchFamily="34" charset="0"/>
                <a:ea typeface="Calibri" pitchFamily="34" charset="-122"/>
                <a:cs typeface="Calibri" pitchFamily="34" charset="-120"/>
              </a:rPr>
              <a:t>BOOKING</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LOADING SHEET</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THC</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IN SCAN</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DRS</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DELIVERY</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POD UPLOAD</a:t>
            </a:r>
            <a:endParaRPr lang="en-US" sz="1100" dirty="0"/>
          </a:p>
        </p:txBody>
      </p:sp>
      <p:sp>
        <p:nvSpPr>
          <p:cNvPr id="6" name="Shape 4"/>
          <p:cNvSpPr/>
          <p:nvPr/>
        </p:nvSpPr>
        <p:spPr>
          <a:xfrm>
            <a:off x="2395728" y="1453896"/>
            <a:ext cx="7397496" cy="4984489"/>
          </a:xfrm>
          <a:prstGeom prst="rect">
            <a:avLst/>
          </a:prstGeom>
          <a:solidFill>
            <a:srgbClr val="FFFFFF"/>
          </a:solidFill>
          <a:ln/>
          <a:effectLst>
            <a:outerShdw sx="100000" sy="100000" kx="0" ky="0" algn="bl" rotWithShape="0" blurRad="203200" dist="76200" dir="5400000">
              <a:srgbClr val="000000">
                <a:alpha val="22000"/>
              </a:srgbClr>
            </a:outerShdw>
          </a:effectLst>
        </p:spPr>
      </p:sp>
      <p:pic>
        <p:nvPicPr>
          <p:cNvPr id="7" name="Image 0" descr="/private/tmp/claude-501/-Users-prashantrohidaskamble-Desktop-courier-management/e0ec2727-54e8-4bc0-83a4-c389b4bb4ea6/scratchpad/courier-ppt/shots/cropped/booking_payment.jpg">    </p:cNvPr>
          <p:cNvPicPr>
            <a:picLocks noChangeAspect="1"/>
          </p:cNvPicPr>
          <p:nvPr/>
        </p:nvPicPr>
        <p:blipFill>
          <a:blip r:embed="rId1"/>
          <a:stretch>
            <a:fillRect/>
          </a:stretch>
        </p:blipFill>
        <p:spPr>
          <a:xfrm>
            <a:off x="2450592" y="1508760"/>
            <a:ext cx="7287768" cy="4874761"/>
          </a:xfrm>
          <a:prstGeom prst="rect">
            <a:avLst/>
          </a:prstGeom>
        </p:spPr>
      </p:pic>
      <p:sp>
        <p:nvSpPr>
          <p:cNvPr id="8" name="Shape 5"/>
          <p:cNvSpPr/>
          <p:nvPr/>
        </p:nvSpPr>
        <p:spPr>
          <a:xfrm>
            <a:off x="2450592" y="1508760"/>
            <a:ext cx="7287768" cy="4874761"/>
          </a:xfrm>
          <a:prstGeom prst="rect">
            <a:avLst/>
          </a:prstGeom>
          <a:ln w="12700">
            <a:solidFill>
              <a:srgbClr val="D8E1EC"/>
            </a:solidFill>
            <a:prstDash val="solid"/>
          </a:ln>
        </p:spPr>
      </p:sp>
      <p:sp>
        <p:nvSpPr>
          <p:cNvPr id="9" name="Text 6"/>
          <p:cNvSpPr/>
          <p:nvPr/>
        </p:nvSpPr>
        <p:spPr>
          <a:xfrm>
            <a:off x="2450592" y="6511537"/>
            <a:ext cx="7287768" cy="274320"/>
          </a:xfrm>
          <a:prstGeom prst="rect">
            <a:avLst/>
          </a:prstGeom>
          <a:noFill/>
          <a:ln/>
        </p:spPr>
        <p:txBody>
          <a:bodyPr wrap="square" lIns="0" tIns="0" rIns="0" bIns="0" rtlCol="0" anchor="ctr"/>
          <a:lstStyle/>
          <a:p>
            <a:pPr algn="ctr" indent="0" marL="0">
              <a:buNone/>
            </a:pPr>
            <a:r>
              <a:rPr lang="en-US" sz="1050" i="1" dirty="0">
                <a:solidFill>
                  <a:srgbClr val="5B7A9D"/>
                </a:solidFill>
                <a:latin typeface="Calibri" pitchFamily="34" charset="0"/>
                <a:ea typeface="Calibri" pitchFamily="34" charset="-122"/>
                <a:cs typeface="Calibri" pitchFamily="34" charset="-120"/>
              </a:rPr>
              <a:t>COD triggers cash collection at delivery; To Pay and TBB are settled later. Booking finishes with an auto-generated AWB.</a:t>
            </a:r>
            <a:endParaRPr lang="en-US" sz="1050" dirty="0"/>
          </a:p>
        </p:txBody>
      </p:sp>
      <p:sp>
        <p:nvSpPr>
          <p:cNvPr id="10" name="Text 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92608"/>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STAGE 2 OF 7</a:t>
            </a:r>
            <a:endParaRPr lang="en-US" sz="1100" dirty="0"/>
          </a:p>
        </p:txBody>
      </p:sp>
      <p:sp>
        <p:nvSpPr>
          <p:cNvPr id="3" name="Text 1"/>
          <p:cNvSpPr/>
          <p:nvPr/>
        </p:nvSpPr>
        <p:spPr>
          <a:xfrm>
            <a:off x="548640" y="457200"/>
            <a:ext cx="10515600" cy="438912"/>
          </a:xfrm>
          <a:prstGeom prst="rect">
            <a:avLst/>
          </a:prstGeom>
          <a:noFill/>
          <a:ln/>
        </p:spPr>
        <p:txBody>
          <a:bodyPr wrap="square" lIns="0" tIns="0" rIns="0" bIns="0" rtlCol="0" anchor="ctr"/>
          <a:lstStyle/>
          <a:p>
            <a:pPr indent="0" marL="0">
              <a:buNone/>
            </a:pPr>
            <a:r>
              <a:rPr lang="en-US" sz="2300" b="1" dirty="0">
                <a:solidFill>
                  <a:srgbClr val="12294B"/>
                </a:solidFill>
                <a:latin typeface="Cambria" pitchFamily="34" charset="0"/>
                <a:ea typeface="Cambria" pitchFamily="34" charset="-122"/>
                <a:cs typeface="Cambria" pitchFamily="34" charset="-120"/>
              </a:rPr>
              <a:t>Loading Sheet Creation</a:t>
            </a:r>
            <a:endParaRPr lang="en-US" sz="2300" dirty="0"/>
          </a:p>
        </p:txBody>
      </p:sp>
      <p:sp>
        <p:nvSpPr>
          <p:cNvPr id="4" name="Text 2"/>
          <p:cNvSpPr/>
          <p:nvPr/>
        </p:nvSpPr>
        <p:spPr>
          <a:xfrm>
            <a:off x="548640" y="914400"/>
            <a:ext cx="11091672" cy="256032"/>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Booked shipments travelling to the same destination are grouped into a manifest before they move anywhere.</a:t>
            </a:r>
            <a:endParaRPr lang="en-US" sz="1150" dirty="0"/>
          </a:p>
        </p:txBody>
      </p:sp>
      <p:sp>
        <p:nvSpPr>
          <p:cNvPr id="5" name="Text 3"/>
          <p:cNvSpPr/>
          <p:nvPr/>
        </p:nvSpPr>
        <p:spPr>
          <a:xfrm>
            <a:off x="548640" y="1207008"/>
            <a:ext cx="11091672" cy="256032"/>
          </a:xfrm>
          <a:prstGeom prst="rect">
            <a:avLst/>
          </a:prstGeom>
          <a:noFill/>
          <a:ln/>
        </p:spPr>
        <p:txBody>
          <a:bodyPr wrap="square" lIns="0" tIns="0" rIns="0" bIns="0" rtlCol="0" anchor="ctr"/>
          <a:lstStyle/>
          <a:p>
            <a:pPr algn="l" indent="0" marL="0">
              <a:buNone/>
            </a:pPr>
            <a:r>
              <a:rPr lang="en-US" sz="950" dirty="0">
                <a:solidFill>
                  <a:srgbClr val="12294B"/>
                </a:solidFill>
                <a:latin typeface="Calibri" pitchFamily="34" charset="0"/>
                <a:ea typeface="Calibri" pitchFamily="34" charset="-122"/>
                <a:cs typeface="Calibri" pitchFamily="34" charset="-120"/>
              </a:rPr>
              <a:t>BOOKING</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1100" b="1" dirty="0">
                <a:solidFill>
                  <a:srgbClr val="F2A93B"/>
                </a:solidFill>
                <a:latin typeface="Calibri" pitchFamily="34" charset="0"/>
                <a:ea typeface="Calibri" pitchFamily="34" charset="-122"/>
                <a:cs typeface="Calibri" pitchFamily="34" charset="-120"/>
              </a:rPr>
              <a:t>LOADING SHEET</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THC</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IN SCAN</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DRS</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DELIVERY</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POD UPLOAD</a:t>
            </a:r>
            <a:endParaRPr lang="en-US" sz="950" dirty="0"/>
          </a:p>
        </p:txBody>
      </p:sp>
      <p:sp>
        <p:nvSpPr>
          <p:cNvPr id="6" name="Shape 4"/>
          <p:cNvSpPr/>
          <p:nvPr/>
        </p:nvSpPr>
        <p:spPr>
          <a:xfrm>
            <a:off x="2395728" y="1453896"/>
            <a:ext cx="7397496" cy="4984489"/>
          </a:xfrm>
          <a:prstGeom prst="rect">
            <a:avLst/>
          </a:prstGeom>
          <a:solidFill>
            <a:srgbClr val="FFFFFF"/>
          </a:solidFill>
          <a:ln/>
          <a:effectLst>
            <a:outerShdw sx="100000" sy="100000" kx="0" ky="0" algn="bl" rotWithShape="0" blurRad="203200" dist="76200" dir="5400000">
              <a:srgbClr val="000000">
                <a:alpha val="22000"/>
              </a:srgbClr>
            </a:outerShdw>
          </a:effectLst>
        </p:spPr>
      </p:sp>
      <p:pic>
        <p:nvPicPr>
          <p:cNvPr id="7" name="Image 0" descr="/private/tmp/claude-501/-Users-prashantrohidaskamble-Desktop-courier-management/e0ec2727-54e8-4bc0-83a4-c389b4bb4ea6/scratchpad/courier-ppt/shots/cropped/loadingsheet.jpg">    </p:cNvPr>
          <p:cNvPicPr>
            <a:picLocks noChangeAspect="1"/>
          </p:cNvPicPr>
          <p:nvPr/>
        </p:nvPicPr>
        <p:blipFill>
          <a:blip r:embed="rId1"/>
          <a:stretch>
            <a:fillRect/>
          </a:stretch>
        </p:blipFill>
        <p:spPr>
          <a:xfrm>
            <a:off x="2450592" y="1508760"/>
            <a:ext cx="7287768" cy="4874761"/>
          </a:xfrm>
          <a:prstGeom prst="rect">
            <a:avLst/>
          </a:prstGeom>
        </p:spPr>
      </p:pic>
      <p:sp>
        <p:nvSpPr>
          <p:cNvPr id="8" name="Shape 5"/>
          <p:cNvSpPr/>
          <p:nvPr/>
        </p:nvSpPr>
        <p:spPr>
          <a:xfrm>
            <a:off x="2450592" y="1508760"/>
            <a:ext cx="7287768" cy="4874761"/>
          </a:xfrm>
          <a:prstGeom prst="rect">
            <a:avLst/>
          </a:prstGeom>
          <a:ln w="12700">
            <a:solidFill>
              <a:srgbClr val="D8E1EC"/>
            </a:solidFill>
            <a:prstDash val="solid"/>
          </a:ln>
        </p:spPr>
      </p:sp>
      <p:sp>
        <p:nvSpPr>
          <p:cNvPr id="9" name="Text 6"/>
          <p:cNvSpPr/>
          <p:nvPr/>
        </p:nvSpPr>
        <p:spPr>
          <a:xfrm>
            <a:off x="2450592" y="6511537"/>
            <a:ext cx="7287768" cy="274320"/>
          </a:xfrm>
          <a:prstGeom prst="rect">
            <a:avLst/>
          </a:prstGeom>
          <a:noFill/>
          <a:ln/>
        </p:spPr>
        <p:txBody>
          <a:bodyPr wrap="square" lIns="0" tIns="0" rIns="0" bIns="0" rtlCol="0" anchor="ctr"/>
          <a:lstStyle/>
          <a:p>
            <a:pPr algn="ctr" indent="0" marL="0">
              <a:buNone/>
            </a:pPr>
            <a:r>
              <a:rPr lang="en-US" sz="1050" i="1" dirty="0">
                <a:solidFill>
                  <a:srgbClr val="5B7A9D"/>
                </a:solidFill>
                <a:latin typeface="Calibri" pitchFamily="34" charset="0"/>
                <a:ea typeface="Calibri" pitchFamily="34" charset="-122"/>
                <a:cs typeface="Calibri" pitchFamily="34" charset="-120"/>
              </a:rPr>
              <a:t>Grouped by destination city, or by delivery branch when the load is crossing a hub. This becomes the THC next.</a:t>
            </a:r>
            <a:endParaRPr lang="en-US" sz="1050" dirty="0"/>
          </a:p>
        </p:txBody>
      </p:sp>
      <p:sp>
        <p:nvSpPr>
          <p:cNvPr id="10" name="Text 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92608"/>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STAGE 3 OF 7</a:t>
            </a:r>
            <a:endParaRPr lang="en-US" sz="1100" dirty="0"/>
          </a:p>
        </p:txBody>
      </p:sp>
      <p:sp>
        <p:nvSpPr>
          <p:cNvPr id="3" name="Text 1"/>
          <p:cNvSpPr/>
          <p:nvPr/>
        </p:nvSpPr>
        <p:spPr>
          <a:xfrm>
            <a:off x="548640" y="457200"/>
            <a:ext cx="10515600" cy="438912"/>
          </a:xfrm>
          <a:prstGeom prst="rect">
            <a:avLst/>
          </a:prstGeom>
          <a:noFill/>
          <a:ln/>
        </p:spPr>
        <p:txBody>
          <a:bodyPr wrap="square" lIns="0" tIns="0" rIns="0" bIns="0" rtlCol="0" anchor="ctr"/>
          <a:lstStyle/>
          <a:p>
            <a:pPr indent="0" marL="0">
              <a:buNone/>
            </a:pPr>
            <a:r>
              <a:rPr lang="en-US" sz="2300" b="1" dirty="0">
                <a:solidFill>
                  <a:srgbClr val="12294B"/>
                </a:solidFill>
                <a:latin typeface="Cambria" pitchFamily="34" charset="0"/>
                <a:ea typeface="Cambria" pitchFamily="34" charset="-122"/>
                <a:cs typeface="Cambria" pitchFamily="34" charset="-120"/>
              </a:rPr>
              <a:t>Trip Hire Challan (Dispatch)</a:t>
            </a:r>
            <a:endParaRPr lang="en-US" sz="2300" dirty="0"/>
          </a:p>
        </p:txBody>
      </p:sp>
      <p:sp>
        <p:nvSpPr>
          <p:cNvPr id="4" name="Text 2"/>
          <p:cNvSpPr/>
          <p:nvPr/>
        </p:nvSpPr>
        <p:spPr>
          <a:xfrm>
            <a:off x="548640" y="914400"/>
            <a:ext cx="11091672" cy="256032"/>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The THC turns a loading sheet into an actual dispatch — a vehicle and a driver are assigned to the manifest.</a:t>
            </a:r>
            <a:endParaRPr lang="en-US" sz="1150" dirty="0"/>
          </a:p>
        </p:txBody>
      </p:sp>
      <p:sp>
        <p:nvSpPr>
          <p:cNvPr id="5" name="Text 3"/>
          <p:cNvSpPr/>
          <p:nvPr/>
        </p:nvSpPr>
        <p:spPr>
          <a:xfrm>
            <a:off x="548640" y="1207008"/>
            <a:ext cx="11091672" cy="256032"/>
          </a:xfrm>
          <a:prstGeom prst="rect">
            <a:avLst/>
          </a:prstGeom>
          <a:noFill/>
          <a:ln/>
        </p:spPr>
        <p:txBody>
          <a:bodyPr wrap="square" lIns="0" tIns="0" rIns="0" bIns="0" rtlCol="0" anchor="ctr"/>
          <a:lstStyle/>
          <a:p>
            <a:pPr algn="l" indent="0" marL="0">
              <a:buNone/>
            </a:pPr>
            <a:r>
              <a:rPr lang="en-US" sz="950" dirty="0">
                <a:solidFill>
                  <a:srgbClr val="12294B"/>
                </a:solidFill>
                <a:latin typeface="Calibri" pitchFamily="34" charset="0"/>
                <a:ea typeface="Calibri" pitchFamily="34" charset="-122"/>
                <a:cs typeface="Calibri" pitchFamily="34" charset="-120"/>
              </a:rPr>
              <a:t>BOOKING</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12294B"/>
                </a:solidFill>
                <a:latin typeface="Calibri" pitchFamily="34" charset="0"/>
                <a:ea typeface="Calibri" pitchFamily="34" charset="-122"/>
                <a:cs typeface="Calibri" pitchFamily="34" charset="-120"/>
              </a:rPr>
              <a:t>LOADING SHEET</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1100" b="1" dirty="0">
                <a:solidFill>
                  <a:srgbClr val="F2A93B"/>
                </a:solidFill>
                <a:latin typeface="Calibri" pitchFamily="34" charset="0"/>
                <a:ea typeface="Calibri" pitchFamily="34" charset="-122"/>
                <a:cs typeface="Calibri" pitchFamily="34" charset="-120"/>
              </a:rPr>
              <a:t>THC</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IN SCAN</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DRS</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DELIVERY</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POD UPLOAD</a:t>
            </a:r>
            <a:endParaRPr lang="en-US" sz="950" dirty="0"/>
          </a:p>
        </p:txBody>
      </p:sp>
      <p:sp>
        <p:nvSpPr>
          <p:cNvPr id="6" name="Shape 4"/>
          <p:cNvSpPr/>
          <p:nvPr/>
        </p:nvSpPr>
        <p:spPr>
          <a:xfrm>
            <a:off x="2395728" y="1453896"/>
            <a:ext cx="7397496" cy="4984489"/>
          </a:xfrm>
          <a:prstGeom prst="rect">
            <a:avLst/>
          </a:prstGeom>
          <a:solidFill>
            <a:srgbClr val="FFFFFF"/>
          </a:solidFill>
          <a:ln/>
          <a:effectLst>
            <a:outerShdw sx="100000" sy="100000" kx="0" ky="0" algn="bl" rotWithShape="0" blurRad="203200" dist="76200" dir="5400000">
              <a:srgbClr val="000000">
                <a:alpha val="22000"/>
              </a:srgbClr>
            </a:outerShdw>
          </a:effectLst>
        </p:spPr>
      </p:sp>
      <p:pic>
        <p:nvPicPr>
          <p:cNvPr id="7" name="Image 0" descr="/private/tmp/claude-501/-Users-prashantrohidaskamble-Desktop-courier-management/e0ec2727-54e8-4bc0-83a4-c389b4bb4ea6/scratchpad/courier-ppt/shots/cropped/thc_assign.jpg">    </p:cNvPr>
          <p:cNvPicPr>
            <a:picLocks noChangeAspect="1"/>
          </p:cNvPicPr>
          <p:nvPr/>
        </p:nvPicPr>
        <p:blipFill>
          <a:blip r:embed="rId1"/>
          <a:stretch>
            <a:fillRect/>
          </a:stretch>
        </p:blipFill>
        <p:spPr>
          <a:xfrm>
            <a:off x="2450592" y="1508760"/>
            <a:ext cx="7287768" cy="4874761"/>
          </a:xfrm>
          <a:prstGeom prst="rect">
            <a:avLst/>
          </a:prstGeom>
        </p:spPr>
      </p:pic>
      <p:sp>
        <p:nvSpPr>
          <p:cNvPr id="8" name="Shape 5"/>
          <p:cNvSpPr/>
          <p:nvPr/>
        </p:nvSpPr>
        <p:spPr>
          <a:xfrm>
            <a:off x="2450592" y="1508760"/>
            <a:ext cx="7287768" cy="4874761"/>
          </a:xfrm>
          <a:prstGeom prst="rect">
            <a:avLst/>
          </a:prstGeom>
          <a:ln w="12700">
            <a:solidFill>
              <a:srgbClr val="D8E1EC"/>
            </a:solidFill>
            <a:prstDash val="solid"/>
          </a:ln>
        </p:spPr>
      </p:sp>
      <p:sp>
        <p:nvSpPr>
          <p:cNvPr id="9" name="Text 6"/>
          <p:cNvSpPr/>
          <p:nvPr/>
        </p:nvSpPr>
        <p:spPr>
          <a:xfrm>
            <a:off x="2450592" y="6511537"/>
            <a:ext cx="7287768" cy="274320"/>
          </a:xfrm>
          <a:prstGeom prst="rect">
            <a:avLst/>
          </a:prstGeom>
          <a:noFill/>
          <a:ln/>
        </p:spPr>
        <p:txBody>
          <a:bodyPr wrap="square" lIns="0" tIns="0" rIns="0" bIns="0" rtlCol="0" anchor="ctr"/>
          <a:lstStyle/>
          <a:p>
            <a:pPr algn="ctr" indent="0" marL="0">
              <a:buNone/>
            </a:pPr>
            <a:r>
              <a:rPr lang="en-US" sz="1050" i="1" dirty="0">
                <a:solidFill>
                  <a:srgbClr val="5B7A9D"/>
                </a:solidFill>
                <a:latin typeface="Calibri" pitchFamily="34" charset="0"/>
                <a:ea typeface="Calibri" pitchFamily="34" charset="-122"/>
                <a:cs typeface="Calibri" pitchFamily="34" charset="-120"/>
              </a:rPr>
              <a:t>Once Vehicle and Driver are both set, Dispatch locks the manifest and releases it for movement.</a:t>
            </a:r>
            <a:endParaRPr lang="en-US" sz="1050" dirty="0"/>
          </a:p>
        </p:txBody>
      </p:sp>
      <p:sp>
        <p:nvSpPr>
          <p:cNvPr id="10" name="Text 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D38"/>
        </a:solidFill>
      </p:bgPr>
    </p:bg>
    <p:spTree>
      <p:nvGrpSpPr>
        <p:cNvPr id="1" name=""/>
        <p:cNvGrpSpPr/>
        <p:nvPr/>
      </p:nvGrpSpPr>
      <p:grpSpPr>
        <a:xfrm>
          <a:off x="0" y="0"/>
          <a:ext cx="0" cy="0"/>
          <a:chOff x="0" y="0"/>
          <a:chExt cx="0" cy="0"/>
        </a:xfrm>
      </p:grpSpPr>
      <p:sp>
        <p:nvSpPr>
          <p:cNvPr id="2" name="Text 0"/>
          <p:cNvSpPr/>
          <p:nvPr/>
        </p:nvSpPr>
        <p:spPr>
          <a:xfrm>
            <a:off x="548640" y="292608"/>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STAGE 4 OF 7</a:t>
            </a:r>
            <a:endParaRPr lang="en-US" sz="1100" dirty="0"/>
          </a:p>
        </p:txBody>
      </p:sp>
      <p:sp>
        <p:nvSpPr>
          <p:cNvPr id="3" name="Text 1"/>
          <p:cNvSpPr/>
          <p:nvPr/>
        </p:nvSpPr>
        <p:spPr>
          <a:xfrm>
            <a:off x="548640" y="457200"/>
            <a:ext cx="10515600" cy="438912"/>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In Scan</a:t>
            </a:r>
            <a:endParaRPr lang="en-US" sz="2300" dirty="0"/>
          </a:p>
        </p:txBody>
      </p:sp>
      <p:sp>
        <p:nvSpPr>
          <p:cNvPr id="4" name="Text 2"/>
          <p:cNvSpPr/>
          <p:nvPr/>
        </p:nvSpPr>
        <p:spPr>
          <a:xfrm>
            <a:off x="548640" y="914400"/>
            <a:ext cx="11091672" cy="256032"/>
          </a:xfrm>
          <a:prstGeom prst="rect">
            <a:avLst/>
          </a:prstGeom>
          <a:noFill/>
          <a:ln/>
        </p:spPr>
        <p:txBody>
          <a:bodyPr wrap="square" lIns="0" tIns="0" rIns="0" bIns="0" rtlCol="0" anchor="ctr"/>
          <a:lstStyle/>
          <a:p>
            <a:pPr indent="0" marL="0">
              <a:buNone/>
            </a:pPr>
            <a:r>
              <a:rPr lang="en-US" sz="1150" dirty="0">
                <a:solidFill>
                  <a:srgbClr val="CFE0F5"/>
                </a:solidFill>
                <a:latin typeface="Calibri" pitchFamily="34" charset="0"/>
                <a:ea typeface="Calibri" pitchFamily="34" charset="-122"/>
                <a:cs typeface="Calibri" pitchFamily="34" charset="-120"/>
              </a:rPr>
              <a:t>Every shipment is scanned on arrival — whether that is out of the origin branch, into a hub, or into the delivery branch.</a:t>
            </a:r>
            <a:endParaRPr lang="en-US" sz="1150" dirty="0"/>
          </a:p>
        </p:txBody>
      </p:sp>
      <p:sp>
        <p:nvSpPr>
          <p:cNvPr id="5" name="Text 3"/>
          <p:cNvSpPr/>
          <p:nvPr/>
        </p:nvSpPr>
        <p:spPr>
          <a:xfrm>
            <a:off x="548640" y="1207008"/>
            <a:ext cx="11091672" cy="256032"/>
          </a:xfrm>
          <a:prstGeom prst="rect">
            <a:avLst/>
          </a:prstGeom>
          <a:noFill/>
          <a:ln/>
        </p:spPr>
        <p:txBody>
          <a:bodyPr wrap="square" lIns="0" tIns="0" rIns="0" bIns="0" rtlCol="0" anchor="ctr"/>
          <a:lstStyle/>
          <a:p>
            <a:pPr algn="l" indent="0" marL="0">
              <a:buNone/>
            </a:pPr>
            <a:r>
              <a:rPr lang="en-US" sz="950" dirty="0">
                <a:solidFill>
                  <a:srgbClr val="CFE0F5"/>
                </a:solidFill>
                <a:latin typeface="Calibri" pitchFamily="34" charset="0"/>
                <a:ea typeface="Calibri" pitchFamily="34" charset="-122"/>
                <a:cs typeface="Calibri" pitchFamily="34" charset="-120"/>
              </a:rPr>
              <a:t>BOOKING</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CFE0F5"/>
                </a:solidFill>
                <a:latin typeface="Calibri" pitchFamily="34" charset="0"/>
                <a:ea typeface="Calibri" pitchFamily="34" charset="-122"/>
                <a:cs typeface="Calibri" pitchFamily="34" charset="-120"/>
              </a:rPr>
              <a:t>LOADING SHEET</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CFE0F5"/>
                </a:solidFill>
                <a:latin typeface="Calibri" pitchFamily="34" charset="0"/>
                <a:ea typeface="Calibri" pitchFamily="34" charset="-122"/>
                <a:cs typeface="Calibri" pitchFamily="34" charset="-120"/>
              </a:rPr>
              <a:t>THC</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1100" b="1" dirty="0">
                <a:solidFill>
                  <a:srgbClr val="F2A93B"/>
                </a:solidFill>
                <a:latin typeface="Calibri" pitchFamily="34" charset="0"/>
                <a:ea typeface="Calibri" pitchFamily="34" charset="-122"/>
                <a:cs typeface="Calibri" pitchFamily="34" charset="-120"/>
              </a:rPr>
              <a:t>IN SCAN</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DRS</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DELIVERY</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POD UPLOAD</a:t>
            </a:r>
            <a:endParaRPr lang="en-US" sz="950" dirty="0"/>
          </a:p>
        </p:txBody>
      </p:sp>
      <p:sp>
        <p:nvSpPr>
          <p:cNvPr id="6" name="Shape 4"/>
          <p:cNvSpPr/>
          <p:nvPr/>
        </p:nvSpPr>
        <p:spPr>
          <a:xfrm>
            <a:off x="2395728" y="1453896"/>
            <a:ext cx="7397496" cy="4984489"/>
          </a:xfrm>
          <a:prstGeom prst="rect">
            <a:avLst/>
          </a:prstGeom>
          <a:solidFill>
            <a:srgbClr val="FFFFFF"/>
          </a:solidFill>
          <a:ln/>
          <a:effectLst>
            <a:outerShdw sx="100000" sy="100000" kx="0" ky="0" algn="bl" rotWithShape="0" blurRad="203200" dist="76200" dir="5400000">
              <a:srgbClr val="000000">
                <a:alpha val="40000"/>
              </a:srgbClr>
            </a:outerShdw>
          </a:effectLst>
        </p:spPr>
      </p:sp>
      <p:pic>
        <p:nvPicPr>
          <p:cNvPr id="7" name="Image 0" descr="/private/tmp/claude-501/-Users-prashantrohidaskamble-Desktop-courier-management/e0ec2727-54e8-4bc0-83a4-c389b4bb4ea6/scratchpad/courier-ppt/shots/cropped/inscan.jpg">    </p:cNvPr>
          <p:cNvPicPr>
            <a:picLocks noChangeAspect="1"/>
          </p:cNvPicPr>
          <p:nvPr/>
        </p:nvPicPr>
        <p:blipFill>
          <a:blip r:embed="rId1"/>
          <a:stretch>
            <a:fillRect/>
          </a:stretch>
        </p:blipFill>
        <p:spPr>
          <a:xfrm>
            <a:off x="2450592" y="1508760"/>
            <a:ext cx="7287768" cy="4874761"/>
          </a:xfrm>
          <a:prstGeom prst="rect">
            <a:avLst/>
          </a:prstGeom>
        </p:spPr>
      </p:pic>
      <p:sp>
        <p:nvSpPr>
          <p:cNvPr id="8" name="Shape 5"/>
          <p:cNvSpPr/>
          <p:nvPr/>
        </p:nvSpPr>
        <p:spPr>
          <a:xfrm>
            <a:off x="2450592" y="1508760"/>
            <a:ext cx="7287768" cy="4874761"/>
          </a:xfrm>
          <a:prstGeom prst="rect">
            <a:avLst/>
          </a:prstGeom>
          <a:ln w="12700">
            <a:solidFill>
              <a:srgbClr val="D8E1EC"/>
            </a:solidFill>
            <a:prstDash val="solid"/>
          </a:ln>
        </p:spPr>
      </p:sp>
      <p:sp>
        <p:nvSpPr>
          <p:cNvPr id="9" name="Text 6"/>
          <p:cNvSpPr/>
          <p:nvPr/>
        </p:nvSpPr>
        <p:spPr>
          <a:xfrm>
            <a:off x="2450592" y="6511537"/>
            <a:ext cx="7287768" cy="274320"/>
          </a:xfrm>
          <a:prstGeom prst="rect">
            <a:avLst/>
          </a:prstGeom>
          <a:noFill/>
          <a:ln/>
        </p:spPr>
        <p:txBody>
          <a:bodyPr wrap="square" lIns="0" tIns="0" rIns="0" bIns="0" rtlCol="0" anchor="ctr"/>
          <a:lstStyle/>
          <a:p>
            <a:pPr algn="ctr" indent="0" marL="0">
              <a:buNone/>
            </a:pPr>
            <a:r>
              <a:rPr lang="en-US" sz="1050" i="1" dirty="0">
                <a:solidFill>
                  <a:srgbClr val="CFE0F5"/>
                </a:solidFill>
                <a:latin typeface="Calibri" pitchFamily="34" charset="0"/>
                <a:ea typeface="Calibri" pitchFamily="34" charset="-122"/>
                <a:cs typeface="Calibri" pitchFamily="34" charset="-120"/>
              </a:rPr>
              <a:t>AWB, shipment or manifest number is scanned; the system checks it belongs to this movement and updates status live.</a:t>
            </a:r>
            <a:endParaRPr lang="en-US" sz="1050" dirty="0"/>
          </a:p>
        </p:txBody>
      </p:sp>
      <p:sp>
        <p:nvSpPr>
          <p:cNvPr id="10" name="Text 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92608"/>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STAGE 5 OF 7</a:t>
            </a:r>
            <a:endParaRPr lang="en-US" sz="1100" dirty="0"/>
          </a:p>
        </p:txBody>
      </p:sp>
      <p:sp>
        <p:nvSpPr>
          <p:cNvPr id="3" name="Text 1"/>
          <p:cNvSpPr/>
          <p:nvPr/>
        </p:nvSpPr>
        <p:spPr>
          <a:xfrm>
            <a:off x="548640" y="457200"/>
            <a:ext cx="10515600" cy="438912"/>
          </a:xfrm>
          <a:prstGeom prst="rect">
            <a:avLst/>
          </a:prstGeom>
          <a:noFill/>
          <a:ln/>
        </p:spPr>
        <p:txBody>
          <a:bodyPr wrap="square" lIns="0" tIns="0" rIns="0" bIns="0" rtlCol="0" anchor="ctr"/>
          <a:lstStyle/>
          <a:p>
            <a:pPr indent="0" marL="0">
              <a:buNone/>
            </a:pPr>
            <a:r>
              <a:rPr lang="en-US" sz="2300" b="1" dirty="0">
                <a:solidFill>
                  <a:srgbClr val="12294B"/>
                </a:solidFill>
                <a:latin typeface="Cambria" pitchFamily="34" charset="0"/>
                <a:ea typeface="Cambria" pitchFamily="34" charset="-122"/>
                <a:cs typeface="Cambria" pitchFamily="34" charset="-120"/>
              </a:rPr>
              <a:t>DRS Creation (Out for Delivery)</a:t>
            </a:r>
            <a:endParaRPr lang="en-US" sz="2300" dirty="0"/>
          </a:p>
        </p:txBody>
      </p:sp>
      <p:sp>
        <p:nvSpPr>
          <p:cNvPr id="4" name="Text 2"/>
          <p:cNvSpPr/>
          <p:nvPr/>
        </p:nvSpPr>
        <p:spPr>
          <a:xfrm>
            <a:off x="548640" y="914400"/>
            <a:ext cx="11091672" cy="256032"/>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At the delivery branch, received shipments are assigned to a delivery executive through the DRS screen.</a:t>
            </a:r>
            <a:endParaRPr lang="en-US" sz="1150" dirty="0"/>
          </a:p>
        </p:txBody>
      </p:sp>
      <p:sp>
        <p:nvSpPr>
          <p:cNvPr id="5" name="Text 3"/>
          <p:cNvSpPr/>
          <p:nvPr/>
        </p:nvSpPr>
        <p:spPr>
          <a:xfrm>
            <a:off x="548640" y="1207008"/>
            <a:ext cx="11091672" cy="256032"/>
          </a:xfrm>
          <a:prstGeom prst="rect">
            <a:avLst/>
          </a:prstGeom>
          <a:noFill/>
          <a:ln/>
        </p:spPr>
        <p:txBody>
          <a:bodyPr wrap="square" lIns="0" tIns="0" rIns="0" bIns="0" rtlCol="0" anchor="ctr"/>
          <a:lstStyle/>
          <a:p>
            <a:pPr algn="l" indent="0" marL="0">
              <a:buNone/>
            </a:pPr>
            <a:r>
              <a:rPr lang="en-US" sz="950" dirty="0">
                <a:solidFill>
                  <a:srgbClr val="12294B"/>
                </a:solidFill>
                <a:latin typeface="Calibri" pitchFamily="34" charset="0"/>
                <a:ea typeface="Calibri" pitchFamily="34" charset="-122"/>
                <a:cs typeface="Calibri" pitchFamily="34" charset="-120"/>
              </a:rPr>
              <a:t>BOOKING</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12294B"/>
                </a:solidFill>
                <a:latin typeface="Calibri" pitchFamily="34" charset="0"/>
                <a:ea typeface="Calibri" pitchFamily="34" charset="-122"/>
                <a:cs typeface="Calibri" pitchFamily="34" charset="-120"/>
              </a:rPr>
              <a:t>LOADING SHEET</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12294B"/>
                </a:solidFill>
                <a:latin typeface="Calibri" pitchFamily="34" charset="0"/>
                <a:ea typeface="Calibri" pitchFamily="34" charset="-122"/>
                <a:cs typeface="Calibri" pitchFamily="34" charset="-120"/>
              </a:rPr>
              <a:t>THC</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12294B"/>
                </a:solidFill>
                <a:latin typeface="Calibri" pitchFamily="34" charset="0"/>
                <a:ea typeface="Calibri" pitchFamily="34" charset="-122"/>
                <a:cs typeface="Calibri" pitchFamily="34" charset="-120"/>
              </a:rPr>
              <a:t>IN SCAN</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1100" b="1" dirty="0">
                <a:solidFill>
                  <a:srgbClr val="F2A93B"/>
                </a:solidFill>
                <a:latin typeface="Calibri" pitchFamily="34" charset="0"/>
                <a:ea typeface="Calibri" pitchFamily="34" charset="-122"/>
                <a:cs typeface="Calibri" pitchFamily="34" charset="-120"/>
              </a:rPr>
              <a:t>DRS</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DELIVERY</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POD UPLOAD</a:t>
            </a:r>
            <a:endParaRPr lang="en-US" sz="950" dirty="0"/>
          </a:p>
        </p:txBody>
      </p:sp>
      <p:sp>
        <p:nvSpPr>
          <p:cNvPr id="6" name="Shape 4"/>
          <p:cNvSpPr/>
          <p:nvPr/>
        </p:nvSpPr>
        <p:spPr>
          <a:xfrm>
            <a:off x="2395728" y="1453896"/>
            <a:ext cx="7397496" cy="4984489"/>
          </a:xfrm>
          <a:prstGeom prst="rect">
            <a:avLst/>
          </a:prstGeom>
          <a:solidFill>
            <a:srgbClr val="FFFFFF"/>
          </a:solidFill>
          <a:ln/>
          <a:effectLst>
            <a:outerShdw sx="100000" sy="100000" kx="0" ky="0" algn="bl" rotWithShape="0" blurRad="203200" dist="76200" dir="5400000">
              <a:srgbClr val="000000">
                <a:alpha val="22000"/>
              </a:srgbClr>
            </a:outerShdw>
          </a:effectLst>
        </p:spPr>
      </p:sp>
      <p:pic>
        <p:nvPicPr>
          <p:cNvPr id="7" name="Image 0" descr="/private/tmp/claude-501/-Users-prashantrohidaskamble-Desktop-courier-management/e0ec2727-54e8-4bc0-83a4-c389b4bb4ea6/scratchpad/courier-ppt/shots/cropped/drs_mybranch.jpg">    </p:cNvPr>
          <p:cNvPicPr>
            <a:picLocks noChangeAspect="1"/>
          </p:cNvPicPr>
          <p:nvPr/>
        </p:nvPicPr>
        <p:blipFill>
          <a:blip r:embed="rId1"/>
          <a:stretch>
            <a:fillRect/>
          </a:stretch>
        </p:blipFill>
        <p:spPr>
          <a:xfrm>
            <a:off x="2450592" y="1508760"/>
            <a:ext cx="7287768" cy="4874761"/>
          </a:xfrm>
          <a:prstGeom prst="rect">
            <a:avLst/>
          </a:prstGeom>
        </p:spPr>
      </p:pic>
      <p:sp>
        <p:nvSpPr>
          <p:cNvPr id="8" name="Shape 5"/>
          <p:cNvSpPr/>
          <p:nvPr/>
        </p:nvSpPr>
        <p:spPr>
          <a:xfrm>
            <a:off x="2450592" y="1508760"/>
            <a:ext cx="7287768" cy="4874761"/>
          </a:xfrm>
          <a:prstGeom prst="rect">
            <a:avLst/>
          </a:prstGeom>
          <a:ln w="12700">
            <a:solidFill>
              <a:srgbClr val="D8E1EC"/>
            </a:solidFill>
            <a:prstDash val="solid"/>
          </a:ln>
        </p:spPr>
      </p:sp>
      <p:sp>
        <p:nvSpPr>
          <p:cNvPr id="9" name="Text 6"/>
          <p:cNvSpPr/>
          <p:nvPr/>
        </p:nvSpPr>
        <p:spPr>
          <a:xfrm>
            <a:off x="2450592" y="6511537"/>
            <a:ext cx="7287768" cy="274320"/>
          </a:xfrm>
          <a:prstGeom prst="rect">
            <a:avLst/>
          </a:prstGeom>
          <a:noFill/>
          <a:ln/>
        </p:spPr>
        <p:txBody>
          <a:bodyPr wrap="square" lIns="0" tIns="0" rIns="0" bIns="0" rtlCol="0" anchor="ctr"/>
          <a:lstStyle/>
          <a:p>
            <a:pPr algn="ctr" indent="0" marL="0">
              <a:buNone/>
            </a:pPr>
            <a:r>
              <a:rPr lang="en-US" sz="1050" i="1" dirty="0">
                <a:solidFill>
                  <a:srgbClr val="5B7A9D"/>
                </a:solidFill>
                <a:latin typeface="Calibri" pitchFamily="34" charset="0"/>
                <a:ea typeface="Calibri" pitchFamily="34" charset="-122"/>
                <a:cs typeface="Calibri" pitchFamily="34" charset="-120"/>
              </a:rPr>
              <a:t>A Direct Company Delivery toggle exists on this same screen for shipments bypassing the delivery branch entirely.</a:t>
            </a:r>
            <a:endParaRPr lang="en-US" sz="1050" dirty="0"/>
          </a:p>
        </p:txBody>
      </p:sp>
      <p:sp>
        <p:nvSpPr>
          <p:cNvPr id="10" name="Text 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D38"/>
        </a:solidFill>
      </p:bgPr>
    </p:bg>
    <p:spTree>
      <p:nvGrpSpPr>
        <p:cNvPr id="1" name=""/>
        <p:cNvGrpSpPr/>
        <p:nvPr/>
      </p:nvGrpSpPr>
      <p:grpSpPr>
        <a:xfrm>
          <a:off x="0" y="0"/>
          <a:ext cx="0" cy="0"/>
          <a:chOff x="0" y="0"/>
          <a:chExt cx="0" cy="0"/>
        </a:xfrm>
      </p:grpSpPr>
      <p:sp>
        <p:nvSpPr>
          <p:cNvPr id="2" name="Text 0"/>
          <p:cNvSpPr/>
          <p:nvPr/>
        </p:nvSpPr>
        <p:spPr>
          <a:xfrm>
            <a:off x="548640" y="292608"/>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STAGE 6 OF 7</a:t>
            </a:r>
            <a:endParaRPr lang="en-US" sz="1100" dirty="0"/>
          </a:p>
        </p:txBody>
      </p:sp>
      <p:sp>
        <p:nvSpPr>
          <p:cNvPr id="3" name="Text 1"/>
          <p:cNvSpPr/>
          <p:nvPr/>
        </p:nvSpPr>
        <p:spPr>
          <a:xfrm>
            <a:off x="548640" y="457200"/>
            <a:ext cx="10515600" cy="438912"/>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Delivery</a:t>
            </a:r>
            <a:endParaRPr lang="en-US" sz="2300" dirty="0"/>
          </a:p>
        </p:txBody>
      </p:sp>
      <p:sp>
        <p:nvSpPr>
          <p:cNvPr id="4" name="Text 2"/>
          <p:cNvSpPr/>
          <p:nvPr/>
        </p:nvSpPr>
        <p:spPr>
          <a:xfrm>
            <a:off x="548640" y="914400"/>
            <a:ext cx="11091672" cy="256032"/>
          </a:xfrm>
          <a:prstGeom prst="rect">
            <a:avLst/>
          </a:prstGeom>
          <a:noFill/>
          <a:ln/>
        </p:spPr>
        <p:txBody>
          <a:bodyPr wrap="square" lIns="0" tIns="0" rIns="0" bIns="0" rtlCol="0" anchor="ctr"/>
          <a:lstStyle/>
          <a:p>
            <a:pPr indent="0" marL="0">
              <a:buNone/>
            </a:pPr>
            <a:r>
              <a:rPr lang="en-US" sz="1150" dirty="0">
                <a:solidFill>
                  <a:srgbClr val="CFE0F5"/>
                </a:solidFill>
                <a:latin typeface="Calibri" pitchFamily="34" charset="0"/>
                <a:ea typeface="Calibri" pitchFamily="34" charset="-122"/>
                <a:cs typeface="Calibri" pitchFamily="34" charset="-120"/>
              </a:rPr>
              <a:t>The delivery executive closes the shipment against the consignee, right here on the Delivery screen.</a:t>
            </a:r>
            <a:endParaRPr lang="en-US" sz="1150" dirty="0"/>
          </a:p>
        </p:txBody>
      </p:sp>
      <p:sp>
        <p:nvSpPr>
          <p:cNvPr id="5" name="Text 3"/>
          <p:cNvSpPr/>
          <p:nvPr/>
        </p:nvSpPr>
        <p:spPr>
          <a:xfrm>
            <a:off x="548640" y="1207008"/>
            <a:ext cx="11091672" cy="256032"/>
          </a:xfrm>
          <a:prstGeom prst="rect">
            <a:avLst/>
          </a:prstGeom>
          <a:noFill/>
          <a:ln/>
        </p:spPr>
        <p:txBody>
          <a:bodyPr wrap="square" lIns="0" tIns="0" rIns="0" bIns="0" rtlCol="0" anchor="ctr"/>
          <a:lstStyle/>
          <a:p>
            <a:pPr algn="l" indent="0" marL="0">
              <a:buNone/>
            </a:pPr>
            <a:r>
              <a:rPr lang="en-US" sz="950" dirty="0">
                <a:solidFill>
                  <a:srgbClr val="CFE0F5"/>
                </a:solidFill>
                <a:latin typeface="Calibri" pitchFamily="34" charset="0"/>
                <a:ea typeface="Calibri" pitchFamily="34" charset="-122"/>
                <a:cs typeface="Calibri" pitchFamily="34" charset="-120"/>
              </a:rPr>
              <a:t>BOOKING</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CFE0F5"/>
                </a:solidFill>
                <a:latin typeface="Calibri" pitchFamily="34" charset="0"/>
                <a:ea typeface="Calibri" pitchFamily="34" charset="-122"/>
                <a:cs typeface="Calibri" pitchFamily="34" charset="-120"/>
              </a:rPr>
              <a:t>LOADING SHEET</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CFE0F5"/>
                </a:solidFill>
                <a:latin typeface="Calibri" pitchFamily="34" charset="0"/>
                <a:ea typeface="Calibri" pitchFamily="34" charset="-122"/>
                <a:cs typeface="Calibri" pitchFamily="34" charset="-120"/>
              </a:rPr>
              <a:t>THC</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CFE0F5"/>
                </a:solidFill>
                <a:latin typeface="Calibri" pitchFamily="34" charset="0"/>
                <a:ea typeface="Calibri" pitchFamily="34" charset="-122"/>
                <a:cs typeface="Calibri" pitchFamily="34" charset="-120"/>
              </a:rPr>
              <a:t>IN SCAN</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CFE0F5"/>
                </a:solidFill>
                <a:latin typeface="Calibri" pitchFamily="34" charset="0"/>
                <a:ea typeface="Calibri" pitchFamily="34" charset="-122"/>
                <a:cs typeface="Calibri" pitchFamily="34" charset="-120"/>
              </a:rPr>
              <a:t>DRS</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1100" b="1" dirty="0">
                <a:solidFill>
                  <a:srgbClr val="F2A93B"/>
                </a:solidFill>
                <a:latin typeface="Calibri" pitchFamily="34" charset="0"/>
                <a:ea typeface="Calibri" pitchFamily="34" charset="-122"/>
                <a:cs typeface="Calibri" pitchFamily="34" charset="-120"/>
              </a:rPr>
              <a:t>DELIVERY</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POD UPLOAD</a:t>
            </a:r>
            <a:endParaRPr lang="en-US" sz="950" dirty="0"/>
          </a:p>
        </p:txBody>
      </p:sp>
      <p:sp>
        <p:nvSpPr>
          <p:cNvPr id="6" name="Shape 4"/>
          <p:cNvSpPr/>
          <p:nvPr/>
        </p:nvSpPr>
        <p:spPr>
          <a:xfrm>
            <a:off x="2395728" y="1453896"/>
            <a:ext cx="7397496" cy="4984489"/>
          </a:xfrm>
          <a:prstGeom prst="rect">
            <a:avLst/>
          </a:prstGeom>
          <a:solidFill>
            <a:srgbClr val="FFFFFF"/>
          </a:solidFill>
          <a:ln/>
          <a:effectLst>
            <a:outerShdw sx="100000" sy="100000" kx="0" ky="0" algn="bl" rotWithShape="0" blurRad="203200" dist="76200" dir="5400000">
              <a:srgbClr val="000000">
                <a:alpha val="40000"/>
              </a:srgbClr>
            </a:outerShdw>
          </a:effectLst>
        </p:spPr>
      </p:sp>
      <p:pic>
        <p:nvPicPr>
          <p:cNvPr id="7" name="Image 0" descr="/private/tmp/claude-501/-Users-prashantrohidaskamble-Desktop-courier-management/e0ec2727-54e8-4bc0-83a4-c389b4bb4ea6/scratchpad/courier-ppt/shots/cropped/delivery.jpg">    </p:cNvPr>
          <p:cNvPicPr>
            <a:picLocks noChangeAspect="1"/>
          </p:cNvPicPr>
          <p:nvPr/>
        </p:nvPicPr>
        <p:blipFill>
          <a:blip r:embed="rId1"/>
          <a:stretch>
            <a:fillRect/>
          </a:stretch>
        </p:blipFill>
        <p:spPr>
          <a:xfrm>
            <a:off x="2450592" y="1508760"/>
            <a:ext cx="7287768" cy="4874761"/>
          </a:xfrm>
          <a:prstGeom prst="rect">
            <a:avLst/>
          </a:prstGeom>
        </p:spPr>
      </p:pic>
      <p:sp>
        <p:nvSpPr>
          <p:cNvPr id="8" name="Shape 5"/>
          <p:cNvSpPr/>
          <p:nvPr/>
        </p:nvSpPr>
        <p:spPr>
          <a:xfrm>
            <a:off x="2450592" y="1508760"/>
            <a:ext cx="7287768" cy="4874761"/>
          </a:xfrm>
          <a:prstGeom prst="rect">
            <a:avLst/>
          </a:prstGeom>
          <a:ln w="12700">
            <a:solidFill>
              <a:srgbClr val="D8E1EC"/>
            </a:solidFill>
            <a:prstDash val="solid"/>
          </a:ln>
        </p:spPr>
      </p:sp>
      <p:sp>
        <p:nvSpPr>
          <p:cNvPr id="9" name="Text 6"/>
          <p:cNvSpPr/>
          <p:nvPr/>
        </p:nvSpPr>
        <p:spPr>
          <a:xfrm>
            <a:off x="2450592" y="6511537"/>
            <a:ext cx="7287768" cy="274320"/>
          </a:xfrm>
          <a:prstGeom prst="rect">
            <a:avLst/>
          </a:prstGeom>
          <a:noFill/>
          <a:ln/>
        </p:spPr>
        <p:txBody>
          <a:bodyPr wrap="square" lIns="0" tIns="0" rIns="0" bIns="0" rtlCol="0" anchor="ctr"/>
          <a:lstStyle/>
          <a:p>
            <a:pPr algn="ctr" indent="0" marL="0">
              <a:buNone/>
            </a:pPr>
            <a:r>
              <a:rPr lang="en-US" sz="1050" i="1" dirty="0">
                <a:solidFill>
                  <a:srgbClr val="CFE0F5"/>
                </a:solidFill>
                <a:latin typeface="Calibri" pitchFamily="34" charset="0"/>
                <a:ea typeface="Calibri" pitchFamily="34" charset="-122"/>
                <a:cs typeface="Calibri" pitchFamily="34" charset="-120"/>
              </a:rPr>
              <a:t>Receiver identity is confirmed and the shipment is searched by tracking number, shipment number or receiver name.</a:t>
            </a:r>
            <a:endParaRPr lang="en-US" sz="1050" dirty="0"/>
          </a:p>
        </p:txBody>
      </p:sp>
      <p:sp>
        <p:nvSpPr>
          <p:cNvPr id="10" name="Text 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92608"/>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STAGE 7 OF 7</a:t>
            </a:r>
            <a:endParaRPr lang="en-US" sz="1100" dirty="0"/>
          </a:p>
        </p:txBody>
      </p:sp>
      <p:sp>
        <p:nvSpPr>
          <p:cNvPr id="3" name="Text 1"/>
          <p:cNvSpPr/>
          <p:nvPr/>
        </p:nvSpPr>
        <p:spPr>
          <a:xfrm>
            <a:off x="548640" y="457200"/>
            <a:ext cx="10515600" cy="438912"/>
          </a:xfrm>
          <a:prstGeom prst="rect">
            <a:avLst/>
          </a:prstGeom>
          <a:noFill/>
          <a:ln/>
        </p:spPr>
        <p:txBody>
          <a:bodyPr wrap="square" lIns="0" tIns="0" rIns="0" bIns="0" rtlCol="0" anchor="ctr"/>
          <a:lstStyle/>
          <a:p>
            <a:pPr indent="0" marL="0">
              <a:buNone/>
            </a:pPr>
            <a:r>
              <a:rPr lang="en-US" sz="2300" b="1" dirty="0">
                <a:solidFill>
                  <a:srgbClr val="12294B"/>
                </a:solidFill>
                <a:latin typeface="Cambria" pitchFamily="34" charset="0"/>
                <a:ea typeface="Cambria" pitchFamily="34" charset="-122"/>
                <a:cs typeface="Cambria" pitchFamily="34" charset="-120"/>
              </a:rPr>
              <a:t>POD Upload</a:t>
            </a:r>
            <a:endParaRPr lang="en-US" sz="2300" dirty="0"/>
          </a:p>
        </p:txBody>
      </p:sp>
      <p:sp>
        <p:nvSpPr>
          <p:cNvPr id="4" name="Text 2"/>
          <p:cNvSpPr/>
          <p:nvPr/>
        </p:nvSpPr>
        <p:spPr>
          <a:xfrm>
            <a:off x="548640" y="914400"/>
            <a:ext cx="11091672" cy="256032"/>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Proof of delivery — signature or photo — is attached to the shipment, closing the loop on the entire journey.</a:t>
            </a:r>
            <a:endParaRPr lang="en-US" sz="1150" dirty="0"/>
          </a:p>
        </p:txBody>
      </p:sp>
      <p:sp>
        <p:nvSpPr>
          <p:cNvPr id="5" name="Text 3"/>
          <p:cNvSpPr/>
          <p:nvPr/>
        </p:nvSpPr>
        <p:spPr>
          <a:xfrm>
            <a:off x="548640" y="1207008"/>
            <a:ext cx="11091672" cy="256032"/>
          </a:xfrm>
          <a:prstGeom prst="rect">
            <a:avLst/>
          </a:prstGeom>
          <a:noFill/>
          <a:ln/>
        </p:spPr>
        <p:txBody>
          <a:bodyPr wrap="square" lIns="0" tIns="0" rIns="0" bIns="0" rtlCol="0" anchor="ctr"/>
          <a:lstStyle/>
          <a:p>
            <a:pPr algn="l" indent="0" marL="0">
              <a:buNone/>
            </a:pPr>
            <a:r>
              <a:rPr lang="en-US" sz="950" dirty="0">
                <a:solidFill>
                  <a:srgbClr val="12294B"/>
                </a:solidFill>
                <a:latin typeface="Calibri" pitchFamily="34" charset="0"/>
                <a:ea typeface="Calibri" pitchFamily="34" charset="-122"/>
                <a:cs typeface="Calibri" pitchFamily="34" charset="-120"/>
              </a:rPr>
              <a:t>BOOKING</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12294B"/>
                </a:solidFill>
                <a:latin typeface="Calibri" pitchFamily="34" charset="0"/>
                <a:ea typeface="Calibri" pitchFamily="34" charset="-122"/>
                <a:cs typeface="Calibri" pitchFamily="34" charset="-120"/>
              </a:rPr>
              <a:t>LOADING SHEET</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12294B"/>
                </a:solidFill>
                <a:latin typeface="Calibri" pitchFamily="34" charset="0"/>
                <a:ea typeface="Calibri" pitchFamily="34" charset="-122"/>
                <a:cs typeface="Calibri" pitchFamily="34" charset="-120"/>
              </a:rPr>
              <a:t>THC</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12294B"/>
                </a:solidFill>
                <a:latin typeface="Calibri" pitchFamily="34" charset="0"/>
                <a:ea typeface="Calibri" pitchFamily="34" charset="-122"/>
                <a:cs typeface="Calibri" pitchFamily="34" charset="-120"/>
              </a:rPr>
              <a:t>IN SCAN</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12294B"/>
                </a:solidFill>
                <a:latin typeface="Calibri" pitchFamily="34" charset="0"/>
                <a:ea typeface="Calibri" pitchFamily="34" charset="-122"/>
                <a:cs typeface="Calibri" pitchFamily="34" charset="-120"/>
              </a:rPr>
              <a:t>DRS</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12294B"/>
                </a:solidFill>
                <a:latin typeface="Calibri" pitchFamily="34" charset="0"/>
                <a:ea typeface="Calibri" pitchFamily="34" charset="-122"/>
                <a:cs typeface="Calibri" pitchFamily="34" charset="-120"/>
              </a:rPr>
              <a:t>DELIVERY</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1100" b="1" dirty="0">
                <a:solidFill>
                  <a:srgbClr val="F2A93B"/>
                </a:solidFill>
                <a:latin typeface="Calibri" pitchFamily="34" charset="0"/>
                <a:ea typeface="Calibri" pitchFamily="34" charset="-122"/>
                <a:cs typeface="Calibri" pitchFamily="34" charset="-120"/>
              </a:rPr>
              <a:t>POD UPLOAD</a:t>
            </a:r>
            <a:endParaRPr lang="en-US" sz="950" dirty="0"/>
          </a:p>
        </p:txBody>
      </p:sp>
      <p:sp>
        <p:nvSpPr>
          <p:cNvPr id="6" name="Shape 4"/>
          <p:cNvSpPr/>
          <p:nvPr/>
        </p:nvSpPr>
        <p:spPr>
          <a:xfrm>
            <a:off x="2395728" y="1453896"/>
            <a:ext cx="7397496" cy="4984489"/>
          </a:xfrm>
          <a:prstGeom prst="rect">
            <a:avLst/>
          </a:prstGeom>
          <a:solidFill>
            <a:srgbClr val="FFFFFF"/>
          </a:solidFill>
          <a:ln/>
          <a:effectLst>
            <a:outerShdw sx="100000" sy="100000" kx="0" ky="0" algn="bl" rotWithShape="0" blurRad="203200" dist="76200" dir="5400000">
              <a:srgbClr val="000000">
                <a:alpha val="22000"/>
              </a:srgbClr>
            </a:outerShdw>
          </a:effectLst>
        </p:spPr>
      </p:sp>
      <p:pic>
        <p:nvPicPr>
          <p:cNvPr id="7" name="Image 0" descr="/private/tmp/claude-501/-Users-prashantrohidaskamble-Desktop-courier-management/e0ec2727-54e8-4bc0-83a4-c389b4bb4ea6/scratchpad/courier-ppt/shots/cropped/podupload.jpg">    </p:cNvPr>
          <p:cNvPicPr>
            <a:picLocks noChangeAspect="1"/>
          </p:cNvPicPr>
          <p:nvPr/>
        </p:nvPicPr>
        <p:blipFill>
          <a:blip r:embed="rId1"/>
          <a:stretch>
            <a:fillRect/>
          </a:stretch>
        </p:blipFill>
        <p:spPr>
          <a:xfrm>
            <a:off x="2450592" y="1508760"/>
            <a:ext cx="7287768" cy="4874761"/>
          </a:xfrm>
          <a:prstGeom prst="rect">
            <a:avLst/>
          </a:prstGeom>
        </p:spPr>
      </p:pic>
      <p:sp>
        <p:nvSpPr>
          <p:cNvPr id="8" name="Shape 5"/>
          <p:cNvSpPr/>
          <p:nvPr/>
        </p:nvSpPr>
        <p:spPr>
          <a:xfrm>
            <a:off x="2450592" y="1508760"/>
            <a:ext cx="7287768" cy="4874761"/>
          </a:xfrm>
          <a:prstGeom prst="rect">
            <a:avLst/>
          </a:prstGeom>
          <a:ln w="12700">
            <a:solidFill>
              <a:srgbClr val="D8E1EC"/>
            </a:solidFill>
            <a:prstDash val="solid"/>
          </a:ln>
        </p:spPr>
      </p:sp>
      <p:sp>
        <p:nvSpPr>
          <p:cNvPr id="9" name="Text 6"/>
          <p:cNvSpPr/>
          <p:nvPr/>
        </p:nvSpPr>
        <p:spPr>
          <a:xfrm>
            <a:off x="2450592" y="6511537"/>
            <a:ext cx="7287768" cy="274320"/>
          </a:xfrm>
          <a:prstGeom prst="rect">
            <a:avLst/>
          </a:prstGeom>
          <a:noFill/>
          <a:ln/>
        </p:spPr>
        <p:txBody>
          <a:bodyPr wrap="square" lIns="0" tIns="0" rIns="0" bIns="0" rtlCol="0" anchor="ctr"/>
          <a:lstStyle/>
          <a:p>
            <a:pPr algn="ctr" indent="0" marL="0">
              <a:buNone/>
            </a:pPr>
            <a:r>
              <a:rPr lang="en-US" sz="1050" i="1" dirty="0">
                <a:solidFill>
                  <a:srgbClr val="5B7A9D"/>
                </a:solidFill>
                <a:latin typeface="Calibri" pitchFamily="34" charset="0"/>
                <a:ea typeface="Calibri" pitchFamily="34" charset="-122"/>
                <a:cs typeface="Calibri" pitchFamily="34" charset="-120"/>
              </a:rPr>
              <a:t>Works for any of the company’s shipments by tracking or shipment number, no branch login needed, and is auto-approved.</a:t>
            </a:r>
            <a:endParaRPr lang="en-US" sz="1050" dirty="0"/>
          </a:p>
        </p:txBody>
      </p:sp>
      <p:sp>
        <p:nvSpPr>
          <p:cNvPr id="10" name="Text 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457200"/>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EXCEPTION HANDLING</a:t>
            </a:r>
            <a:endParaRPr lang="en-US" sz="1100" dirty="0"/>
          </a:p>
        </p:txBody>
      </p:sp>
      <p:sp>
        <p:nvSpPr>
          <p:cNvPr id="3" name="Text 1"/>
          <p:cNvSpPr/>
          <p:nvPr/>
        </p:nvSpPr>
        <p:spPr>
          <a:xfrm>
            <a:off x="548640" y="713232"/>
            <a:ext cx="10515600" cy="731520"/>
          </a:xfrm>
          <a:prstGeom prst="rect">
            <a:avLst/>
          </a:prstGeom>
          <a:noFill/>
          <a:ln/>
        </p:spPr>
        <p:txBody>
          <a:bodyPr wrap="square" lIns="0" tIns="0" rIns="0" bIns="0" rtlCol="0" anchor="ctr"/>
          <a:lstStyle/>
          <a:p>
            <a:pPr indent="0" marL="0">
              <a:buNone/>
            </a:pPr>
            <a:r>
              <a:rPr lang="en-US" sz="3200" b="1" dirty="0">
                <a:solidFill>
                  <a:srgbClr val="12294B"/>
                </a:solidFill>
                <a:latin typeface="Cambria" pitchFamily="34" charset="0"/>
                <a:ea typeface="Cambria" pitchFamily="34" charset="-122"/>
                <a:cs typeface="Cambria" pitchFamily="34" charset="-120"/>
              </a:rPr>
              <a:t>Shipment Exceptions</a:t>
            </a:r>
            <a:endParaRPr lang="en-US" sz="3200" dirty="0"/>
          </a:p>
        </p:txBody>
      </p:sp>
      <p:sp>
        <p:nvSpPr>
          <p:cNvPr id="4" name="Text 2"/>
          <p:cNvSpPr/>
          <p:nvPr/>
        </p:nvSpPr>
        <p:spPr>
          <a:xfrm>
            <a:off x="548640" y="1417320"/>
            <a:ext cx="10515600" cy="45720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Every exception is logged as a ticket and tracked to resolution, not handled informally.</a:t>
            </a:r>
            <a:endParaRPr lang="en-US" sz="1300" dirty="0"/>
          </a:p>
        </p:txBody>
      </p:sp>
      <p:sp>
        <p:nvSpPr>
          <p:cNvPr id="5" name="Shape 3"/>
          <p:cNvSpPr/>
          <p:nvPr/>
        </p:nvSpPr>
        <p:spPr>
          <a:xfrm>
            <a:off x="548640" y="2148840"/>
            <a:ext cx="2514600" cy="566928"/>
          </a:xfrm>
          <a:prstGeom prst="roundRect">
            <a:avLst>
              <a:gd name="adj" fmla="val 12903"/>
            </a:avLst>
          </a:prstGeom>
          <a:solidFill>
            <a:srgbClr val="FFFFFF"/>
          </a:solidFill>
          <a:ln/>
          <a:effectLst>
            <a:outerShdw sx="100000" sy="100000" kx="0" ky="0" algn="bl" rotWithShape="0" blurRad="101600" dist="38100" dir="5400000">
              <a:srgbClr val="1B2A47">
                <a:alpha val="18000"/>
              </a:srgbClr>
            </a:outerShdw>
          </a:effectLst>
        </p:spPr>
      </p:sp>
      <p:sp>
        <p:nvSpPr>
          <p:cNvPr id="6" name="Shape 4"/>
          <p:cNvSpPr/>
          <p:nvPr/>
        </p:nvSpPr>
        <p:spPr>
          <a:xfrm>
            <a:off x="713232" y="2249424"/>
            <a:ext cx="365760" cy="365760"/>
          </a:xfrm>
          <a:prstGeom prst="ellipse">
            <a:avLst/>
          </a:prstGeom>
          <a:solidFill>
            <a:srgbClr val="12294B"/>
          </a:solidFill>
          <a:ln/>
        </p:spPr>
      </p:sp>
      <p:pic>
        <p:nvPicPr>
          <p:cNvPr id="7" name="Image 0" descr="/private/tmp/claude-501/-Users-prashantrohidaskamble-Desktop-courier-management/e0ec2727-54e8-4bc0-83a4-c389b4bb4ea6/scratchpad/courier-ppt/icons/exchange_amber.png">    </p:cNvPr>
          <p:cNvPicPr>
            <a:picLocks noChangeAspect="1"/>
          </p:cNvPicPr>
          <p:nvPr/>
        </p:nvPicPr>
        <p:blipFill>
          <a:blip r:embed="rId1"/>
          <a:stretch>
            <a:fillRect/>
          </a:stretch>
        </p:blipFill>
        <p:spPr>
          <a:xfrm>
            <a:off x="801014" y="2337206"/>
            <a:ext cx="190195" cy="190195"/>
          </a:xfrm>
          <a:prstGeom prst="rect">
            <a:avLst/>
          </a:prstGeom>
        </p:spPr>
      </p:pic>
      <p:sp>
        <p:nvSpPr>
          <p:cNvPr id="8" name="Text 5"/>
          <p:cNvSpPr/>
          <p:nvPr/>
        </p:nvSpPr>
        <p:spPr>
          <a:xfrm>
            <a:off x="1170432" y="2148840"/>
            <a:ext cx="1828800" cy="566928"/>
          </a:xfrm>
          <a:prstGeom prst="rect">
            <a:avLst/>
          </a:prstGeom>
          <a:noFill/>
          <a:ln/>
        </p:spPr>
        <p:txBody>
          <a:bodyPr wrap="square" lIns="0" tIns="0" rIns="0" bIns="0" rtlCol="0" anchor="ctr"/>
          <a:lstStyle/>
          <a:p>
            <a:pPr indent="0" marL="0">
              <a:buNone/>
            </a:pPr>
            <a:r>
              <a:rPr lang="en-US" sz="1050" b="1" dirty="0">
                <a:solidFill>
                  <a:srgbClr val="12294B"/>
                </a:solidFill>
                <a:latin typeface="Calibri" pitchFamily="34" charset="0"/>
                <a:ea typeface="Calibri" pitchFamily="34" charset="-122"/>
                <a:cs typeface="Calibri" pitchFamily="34" charset="-120"/>
              </a:rPr>
              <a:t>Misroute</a:t>
            </a:r>
            <a:endParaRPr lang="en-US" sz="1050" dirty="0"/>
          </a:p>
        </p:txBody>
      </p:sp>
      <p:sp>
        <p:nvSpPr>
          <p:cNvPr id="9" name="Shape 6"/>
          <p:cNvSpPr/>
          <p:nvPr/>
        </p:nvSpPr>
        <p:spPr>
          <a:xfrm>
            <a:off x="3209544" y="2148840"/>
            <a:ext cx="2514600" cy="566928"/>
          </a:xfrm>
          <a:prstGeom prst="roundRect">
            <a:avLst>
              <a:gd name="adj" fmla="val 12903"/>
            </a:avLst>
          </a:prstGeom>
          <a:solidFill>
            <a:srgbClr val="FFFFFF"/>
          </a:solidFill>
          <a:ln/>
          <a:effectLst>
            <a:outerShdw sx="100000" sy="100000" kx="0" ky="0" algn="bl" rotWithShape="0" blurRad="101600" dist="38100" dir="5400000">
              <a:srgbClr val="1B2A47">
                <a:alpha val="18000"/>
              </a:srgbClr>
            </a:outerShdw>
          </a:effectLst>
        </p:spPr>
      </p:sp>
      <p:sp>
        <p:nvSpPr>
          <p:cNvPr id="10" name="Shape 7"/>
          <p:cNvSpPr/>
          <p:nvPr/>
        </p:nvSpPr>
        <p:spPr>
          <a:xfrm>
            <a:off x="3374136" y="2249424"/>
            <a:ext cx="365760" cy="365760"/>
          </a:xfrm>
          <a:prstGeom prst="ellipse">
            <a:avLst/>
          </a:prstGeom>
          <a:solidFill>
            <a:srgbClr val="12294B"/>
          </a:solidFill>
          <a:ln/>
        </p:spPr>
      </p:sp>
      <p:pic>
        <p:nvPicPr>
          <p:cNvPr id="11" name="Image 1" descr="/private/tmp/claude-501/-Users-prashantrohidaskamble-Desktop-courier-management/e0ec2727-54e8-4bc0-83a4-c389b4bb4ea6/scratchpad/courier-ppt/icons/scanQuestion_amber.png">    </p:cNvPr>
          <p:cNvPicPr>
            <a:picLocks noChangeAspect="1"/>
          </p:cNvPicPr>
          <p:nvPr/>
        </p:nvPicPr>
        <p:blipFill>
          <a:blip r:embed="rId2"/>
          <a:stretch>
            <a:fillRect/>
          </a:stretch>
        </p:blipFill>
        <p:spPr>
          <a:xfrm>
            <a:off x="3461918" y="2337206"/>
            <a:ext cx="190195" cy="190195"/>
          </a:xfrm>
          <a:prstGeom prst="rect">
            <a:avLst/>
          </a:prstGeom>
        </p:spPr>
      </p:pic>
      <p:sp>
        <p:nvSpPr>
          <p:cNvPr id="12" name="Text 8"/>
          <p:cNvSpPr/>
          <p:nvPr/>
        </p:nvSpPr>
        <p:spPr>
          <a:xfrm>
            <a:off x="3831336" y="2148840"/>
            <a:ext cx="1828800" cy="566928"/>
          </a:xfrm>
          <a:prstGeom prst="rect">
            <a:avLst/>
          </a:prstGeom>
          <a:noFill/>
          <a:ln/>
        </p:spPr>
        <p:txBody>
          <a:bodyPr wrap="square" lIns="0" tIns="0" rIns="0" bIns="0" rtlCol="0" anchor="ctr"/>
          <a:lstStyle/>
          <a:p>
            <a:pPr indent="0" marL="0">
              <a:buNone/>
            </a:pPr>
            <a:r>
              <a:rPr lang="en-US" sz="1050" b="1" dirty="0">
                <a:solidFill>
                  <a:srgbClr val="12294B"/>
                </a:solidFill>
                <a:latin typeface="Calibri" pitchFamily="34" charset="0"/>
                <a:ea typeface="Calibri" pitchFamily="34" charset="-122"/>
                <a:cs typeface="Calibri" pitchFamily="34" charset="-120"/>
              </a:rPr>
              <a:t>Missing Shipment</a:t>
            </a:r>
            <a:endParaRPr lang="en-US" sz="1050" dirty="0"/>
          </a:p>
        </p:txBody>
      </p:sp>
      <p:sp>
        <p:nvSpPr>
          <p:cNvPr id="13" name="Shape 9"/>
          <p:cNvSpPr/>
          <p:nvPr/>
        </p:nvSpPr>
        <p:spPr>
          <a:xfrm>
            <a:off x="548640" y="2825496"/>
            <a:ext cx="2514600" cy="566928"/>
          </a:xfrm>
          <a:prstGeom prst="roundRect">
            <a:avLst>
              <a:gd name="adj" fmla="val 12903"/>
            </a:avLst>
          </a:prstGeom>
          <a:solidFill>
            <a:srgbClr val="FFFFFF"/>
          </a:solidFill>
          <a:ln/>
          <a:effectLst>
            <a:outerShdw sx="100000" sy="100000" kx="0" ky="0" algn="bl" rotWithShape="0" blurRad="101600" dist="38100" dir="5400000">
              <a:srgbClr val="1B2A47">
                <a:alpha val="18000"/>
              </a:srgbClr>
            </a:outerShdw>
          </a:effectLst>
        </p:spPr>
      </p:sp>
      <p:sp>
        <p:nvSpPr>
          <p:cNvPr id="14" name="Shape 10"/>
          <p:cNvSpPr/>
          <p:nvPr/>
        </p:nvSpPr>
        <p:spPr>
          <a:xfrm>
            <a:off x="713232" y="2926080"/>
            <a:ext cx="365760" cy="365760"/>
          </a:xfrm>
          <a:prstGeom prst="ellipse">
            <a:avLst/>
          </a:prstGeom>
          <a:solidFill>
            <a:srgbClr val="12294B"/>
          </a:solidFill>
          <a:ln/>
        </p:spPr>
      </p:sp>
      <p:pic>
        <p:nvPicPr>
          <p:cNvPr id="15" name="Image 2" descr="/private/tmp/claude-501/-Users-prashantrohidaskamble-Desktop-courier-management/e0ec2727-54e8-4bc0-83a4-c389b4bb4ea6/scratchpad/courier-ppt/icons/alertTriangle_amber.png">    </p:cNvPr>
          <p:cNvPicPr>
            <a:picLocks noChangeAspect="1"/>
          </p:cNvPicPr>
          <p:nvPr/>
        </p:nvPicPr>
        <p:blipFill>
          <a:blip r:embed="rId3"/>
          <a:stretch>
            <a:fillRect/>
          </a:stretch>
        </p:blipFill>
        <p:spPr>
          <a:xfrm>
            <a:off x="801014" y="3013862"/>
            <a:ext cx="190195" cy="190195"/>
          </a:xfrm>
          <a:prstGeom prst="rect">
            <a:avLst/>
          </a:prstGeom>
        </p:spPr>
      </p:pic>
      <p:sp>
        <p:nvSpPr>
          <p:cNvPr id="16" name="Text 11"/>
          <p:cNvSpPr/>
          <p:nvPr/>
        </p:nvSpPr>
        <p:spPr>
          <a:xfrm>
            <a:off x="1170432" y="2825496"/>
            <a:ext cx="1828800" cy="566928"/>
          </a:xfrm>
          <a:prstGeom prst="rect">
            <a:avLst/>
          </a:prstGeom>
          <a:noFill/>
          <a:ln/>
        </p:spPr>
        <p:txBody>
          <a:bodyPr wrap="square" lIns="0" tIns="0" rIns="0" bIns="0" rtlCol="0" anchor="ctr"/>
          <a:lstStyle/>
          <a:p>
            <a:pPr indent="0" marL="0">
              <a:buNone/>
            </a:pPr>
            <a:r>
              <a:rPr lang="en-US" sz="1050" b="1" dirty="0">
                <a:solidFill>
                  <a:srgbClr val="12294B"/>
                </a:solidFill>
                <a:latin typeface="Calibri" pitchFamily="34" charset="0"/>
                <a:ea typeface="Calibri" pitchFamily="34" charset="-122"/>
                <a:cs typeface="Calibri" pitchFamily="34" charset="-120"/>
              </a:rPr>
              <a:t>Damaged Shipment</a:t>
            </a:r>
            <a:endParaRPr lang="en-US" sz="1050" dirty="0"/>
          </a:p>
        </p:txBody>
      </p:sp>
      <p:sp>
        <p:nvSpPr>
          <p:cNvPr id="17" name="Shape 12"/>
          <p:cNvSpPr/>
          <p:nvPr/>
        </p:nvSpPr>
        <p:spPr>
          <a:xfrm>
            <a:off x="3209544" y="2825496"/>
            <a:ext cx="2514600" cy="566928"/>
          </a:xfrm>
          <a:prstGeom prst="roundRect">
            <a:avLst>
              <a:gd name="adj" fmla="val 12903"/>
            </a:avLst>
          </a:prstGeom>
          <a:solidFill>
            <a:srgbClr val="FFFFFF"/>
          </a:solidFill>
          <a:ln/>
          <a:effectLst>
            <a:outerShdw sx="100000" sy="100000" kx="0" ky="0" algn="bl" rotWithShape="0" blurRad="101600" dist="38100" dir="5400000">
              <a:srgbClr val="1B2A47">
                <a:alpha val="18000"/>
              </a:srgbClr>
            </a:outerShdw>
          </a:effectLst>
        </p:spPr>
      </p:sp>
      <p:sp>
        <p:nvSpPr>
          <p:cNvPr id="18" name="Shape 13"/>
          <p:cNvSpPr/>
          <p:nvPr/>
        </p:nvSpPr>
        <p:spPr>
          <a:xfrm>
            <a:off x="3374136" y="2926080"/>
            <a:ext cx="365760" cy="365760"/>
          </a:xfrm>
          <a:prstGeom prst="ellipse">
            <a:avLst/>
          </a:prstGeom>
          <a:solidFill>
            <a:srgbClr val="12294B"/>
          </a:solidFill>
          <a:ln/>
        </p:spPr>
      </p:sp>
      <p:pic>
        <p:nvPicPr>
          <p:cNvPr id="19" name="Image 3" descr="/private/tmp/claude-501/-Users-prashantrohidaskamble-Desktop-courier-management/e0ec2727-54e8-4bc0-83a4-c389b4bb4ea6/scratchpad/courier-ppt/icons/timesCircle_amber.png">    </p:cNvPr>
          <p:cNvPicPr>
            <a:picLocks noChangeAspect="1"/>
          </p:cNvPicPr>
          <p:nvPr/>
        </p:nvPicPr>
        <p:blipFill>
          <a:blip r:embed="rId4"/>
          <a:stretch>
            <a:fillRect/>
          </a:stretch>
        </p:blipFill>
        <p:spPr>
          <a:xfrm>
            <a:off x="3461918" y="3013862"/>
            <a:ext cx="190195" cy="190195"/>
          </a:xfrm>
          <a:prstGeom prst="rect">
            <a:avLst/>
          </a:prstGeom>
        </p:spPr>
      </p:pic>
      <p:sp>
        <p:nvSpPr>
          <p:cNvPr id="20" name="Text 14"/>
          <p:cNvSpPr/>
          <p:nvPr/>
        </p:nvSpPr>
        <p:spPr>
          <a:xfrm>
            <a:off x="3831336" y="2825496"/>
            <a:ext cx="1828800" cy="566928"/>
          </a:xfrm>
          <a:prstGeom prst="rect">
            <a:avLst/>
          </a:prstGeom>
          <a:noFill/>
          <a:ln/>
        </p:spPr>
        <p:txBody>
          <a:bodyPr wrap="square" lIns="0" tIns="0" rIns="0" bIns="0" rtlCol="0" anchor="ctr"/>
          <a:lstStyle/>
          <a:p>
            <a:pPr indent="0" marL="0">
              <a:buNone/>
            </a:pPr>
            <a:r>
              <a:rPr lang="en-US" sz="1050" b="1" dirty="0">
                <a:solidFill>
                  <a:srgbClr val="12294B"/>
                </a:solidFill>
                <a:latin typeface="Calibri" pitchFamily="34" charset="0"/>
                <a:ea typeface="Calibri" pitchFamily="34" charset="-122"/>
                <a:cs typeface="Calibri" pitchFamily="34" charset="-120"/>
              </a:rPr>
              <a:t>Delivery Failed</a:t>
            </a:r>
            <a:endParaRPr lang="en-US" sz="1050" dirty="0"/>
          </a:p>
        </p:txBody>
      </p:sp>
      <p:sp>
        <p:nvSpPr>
          <p:cNvPr id="21" name="Shape 15"/>
          <p:cNvSpPr/>
          <p:nvPr/>
        </p:nvSpPr>
        <p:spPr>
          <a:xfrm>
            <a:off x="548640" y="3502152"/>
            <a:ext cx="2514600" cy="566928"/>
          </a:xfrm>
          <a:prstGeom prst="roundRect">
            <a:avLst>
              <a:gd name="adj" fmla="val 12903"/>
            </a:avLst>
          </a:prstGeom>
          <a:solidFill>
            <a:srgbClr val="FFFFFF"/>
          </a:solidFill>
          <a:ln/>
          <a:effectLst>
            <a:outerShdw sx="100000" sy="100000" kx="0" ky="0" algn="bl" rotWithShape="0" blurRad="101600" dist="38100" dir="5400000">
              <a:srgbClr val="1B2A47">
                <a:alpha val="18000"/>
              </a:srgbClr>
            </a:outerShdw>
          </a:effectLst>
        </p:spPr>
      </p:sp>
      <p:sp>
        <p:nvSpPr>
          <p:cNvPr id="22" name="Shape 16"/>
          <p:cNvSpPr/>
          <p:nvPr/>
        </p:nvSpPr>
        <p:spPr>
          <a:xfrm>
            <a:off x="713232" y="3602736"/>
            <a:ext cx="365760" cy="365760"/>
          </a:xfrm>
          <a:prstGeom prst="ellipse">
            <a:avLst/>
          </a:prstGeom>
          <a:solidFill>
            <a:srgbClr val="12294B"/>
          </a:solidFill>
          <a:ln/>
        </p:spPr>
      </p:sp>
      <p:pic>
        <p:nvPicPr>
          <p:cNvPr id="23" name="Image 4" descr="/private/tmp/claude-501/-Users-prashantrohidaskamble-Desktop-courier-management/e0ec2727-54e8-4bc0-83a4-c389b4bb4ea6/scratchpad/courier-ppt/icons/userClock_amber.png">    </p:cNvPr>
          <p:cNvPicPr>
            <a:picLocks noChangeAspect="1"/>
          </p:cNvPicPr>
          <p:nvPr/>
        </p:nvPicPr>
        <p:blipFill>
          <a:blip r:embed="rId5"/>
          <a:stretch>
            <a:fillRect/>
          </a:stretch>
        </p:blipFill>
        <p:spPr>
          <a:xfrm>
            <a:off x="801014" y="3690518"/>
            <a:ext cx="190195" cy="190195"/>
          </a:xfrm>
          <a:prstGeom prst="rect">
            <a:avLst/>
          </a:prstGeom>
        </p:spPr>
      </p:pic>
      <p:sp>
        <p:nvSpPr>
          <p:cNvPr id="24" name="Text 17"/>
          <p:cNvSpPr/>
          <p:nvPr/>
        </p:nvSpPr>
        <p:spPr>
          <a:xfrm>
            <a:off x="1170432" y="3502152"/>
            <a:ext cx="1828800" cy="566928"/>
          </a:xfrm>
          <a:prstGeom prst="rect">
            <a:avLst/>
          </a:prstGeom>
          <a:noFill/>
          <a:ln/>
        </p:spPr>
        <p:txBody>
          <a:bodyPr wrap="square" lIns="0" tIns="0" rIns="0" bIns="0" rtlCol="0" anchor="ctr"/>
          <a:lstStyle/>
          <a:p>
            <a:pPr indent="0" marL="0">
              <a:buNone/>
            </a:pPr>
            <a:r>
              <a:rPr lang="en-US" sz="1050" b="1" dirty="0">
                <a:solidFill>
                  <a:srgbClr val="12294B"/>
                </a:solidFill>
                <a:latin typeface="Calibri" pitchFamily="34" charset="0"/>
                <a:ea typeface="Calibri" pitchFamily="34" charset="-122"/>
                <a:cs typeface="Calibri" pitchFamily="34" charset="-120"/>
              </a:rPr>
              <a:t>Customer Unavailable</a:t>
            </a:r>
            <a:endParaRPr lang="en-US" sz="1050" dirty="0"/>
          </a:p>
        </p:txBody>
      </p:sp>
      <p:sp>
        <p:nvSpPr>
          <p:cNvPr id="25" name="Shape 18"/>
          <p:cNvSpPr/>
          <p:nvPr/>
        </p:nvSpPr>
        <p:spPr>
          <a:xfrm>
            <a:off x="3209544" y="3502152"/>
            <a:ext cx="2514600" cy="566928"/>
          </a:xfrm>
          <a:prstGeom prst="roundRect">
            <a:avLst>
              <a:gd name="adj" fmla="val 12903"/>
            </a:avLst>
          </a:prstGeom>
          <a:solidFill>
            <a:srgbClr val="FFFFFF"/>
          </a:solidFill>
          <a:ln/>
          <a:effectLst>
            <a:outerShdw sx="100000" sy="100000" kx="0" ky="0" algn="bl" rotWithShape="0" blurRad="101600" dist="38100" dir="5400000">
              <a:srgbClr val="1B2A47">
                <a:alpha val="18000"/>
              </a:srgbClr>
            </a:outerShdw>
          </a:effectLst>
        </p:spPr>
      </p:sp>
      <p:sp>
        <p:nvSpPr>
          <p:cNvPr id="26" name="Shape 19"/>
          <p:cNvSpPr/>
          <p:nvPr/>
        </p:nvSpPr>
        <p:spPr>
          <a:xfrm>
            <a:off x="3374136" y="3602736"/>
            <a:ext cx="365760" cy="365760"/>
          </a:xfrm>
          <a:prstGeom prst="ellipse">
            <a:avLst/>
          </a:prstGeom>
          <a:solidFill>
            <a:srgbClr val="12294B"/>
          </a:solidFill>
          <a:ln/>
        </p:spPr>
      </p:sp>
      <p:pic>
        <p:nvPicPr>
          <p:cNvPr id="27" name="Image 5" descr="/private/tmp/claude-501/-Users-prashantrohidaskamble-Desktop-courier-management/e0ec2727-54e8-4bc0-83a4-c389b4bb4ea6/scratchpad/courier-ppt/icons/mapPin_amber.png">    </p:cNvPr>
          <p:cNvPicPr>
            <a:picLocks noChangeAspect="1"/>
          </p:cNvPicPr>
          <p:nvPr/>
        </p:nvPicPr>
        <p:blipFill>
          <a:blip r:embed="rId6"/>
          <a:stretch>
            <a:fillRect/>
          </a:stretch>
        </p:blipFill>
        <p:spPr>
          <a:xfrm>
            <a:off x="3461918" y="3690518"/>
            <a:ext cx="190195" cy="190195"/>
          </a:xfrm>
          <a:prstGeom prst="rect">
            <a:avLst/>
          </a:prstGeom>
        </p:spPr>
      </p:pic>
      <p:sp>
        <p:nvSpPr>
          <p:cNvPr id="28" name="Text 20"/>
          <p:cNvSpPr/>
          <p:nvPr/>
        </p:nvSpPr>
        <p:spPr>
          <a:xfrm>
            <a:off x="3831336" y="3502152"/>
            <a:ext cx="1828800" cy="566928"/>
          </a:xfrm>
          <a:prstGeom prst="rect">
            <a:avLst/>
          </a:prstGeom>
          <a:noFill/>
          <a:ln/>
        </p:spPr>
        <p:txBody>
          <a:bodyPr wrap="square" lIns="0" tIns="0" rIns="0" bIns="0" rtlCol="0" anchor="ctr"/>
          <a:lstStyle/>
          <a:p>
            <a:pPr indent="0" marL="0">
              <a:buNone/>
            </a:pPr>
            <a:r>
              <a:rPr lang="en-US" sz="1050" b="1" dirty="0">
                <a:solidFill>
                  <a:srgbClr val="12294B"/>
                </a:solidFill>
                <a:latin typeface="Calibri" pitchFamily="34" charset="0"/>
                <a:ea typeface="Calibri" pitchFamily="34" charset="-122"/>
                <a:cs typeface="Calibri" pitchFamily="34" charset="-120"/>
              </a:rPr>
              <a:t>Address Issue</a:t>
            </a:r>
            <a:endParaRPr lang="en-US" sz="1050" dirty="0"/>
          </a:p>
        </p:txBody>
      </p:sp>
      <p:sp>
        <p:nvSpPr>
          <p:cNvPr id="29" name="Shape 21"/>
          <p:cNvSpPr/>
          <p:nvPr/>
        </p:nvSpPr>
        <p:spPr>
          <a:xfrm>
            <a:off x="548640" y="4178808"/>
            <a:ext cx="2514600" cy="566928"/>
          </a:xfrm>
          <a:prstGeom prst="roundRect">
            <a:avLst>
              <a:gd name="adj" fmla="val 12903"/>
            </a:avLst>
          </a:prstGeom>
          <a:solidFill>
            <a:srgbClr val="FFFFFF"/>
          </a:solidFill>
          <a:ln/>
          <a:effectLst>
            <a:outerShdw sx="100000" sy="100000" kx="0" ky="0" algn="bl" rotWithShape="0" blurRad="101600" dist="38100" dir="5400000">
              <a:srgbClr val="1B2A47">
                <a:alpha val="18000"/>
              </a:srgbClr>
            </a:outerShdw>
          </a:effectLst>
        </p:spPr>
      </p:sp>
      <p:sp>
        <p:nvSpPr>
          <p:cNvPr id="30" name="Shape 22"/>
          <p:cNvSpPr/>
          <p:nvPr/>
        </p:nvSpPr>
        <p:spPr>
          <a:xfrm>
            <a:off x="713232" y="4279392"/>
            <a:ext cx="365760" cy="365760"/>
          </a:xfrm>
          <a:prstGeom prst="ellipse">
            <a:avLst/>
          </a:prstGeom>
          <a:solidFill>
            <a:srgbClr val="12294B"/>
          </a:solidFill>
          <a:ln/>
        </p:spPr>
      </p:sp>
      <p:pic>
        <p:nvPicPr>
          <p:cNvPr id="31" name="Image 6" descr="/private/tmp/claude-501/-Users-prashantrohidaskamble-Desktop-courier-management/e0ec2727-54e8-4bc0-83a4-c389b4bb4ea6/scratchpad/courier-ppt/icons/clipboardList_amber.png">    </p:cNvPr>
          <p:cNvPicPr>
            <a:picLocks noChangeAspect="1"/>
          </p:cNvPicPr>
          <p:nvPr/>
        </p:nvPicPr>
        <p:blipFill>
          <a:blip r:embed="rId7"/>
          <a:stretch>
            <a:fillRect/>
          </a:stretch>
        </p:blipFill>
        <p:spPr>
          <a:xfrm>
            <a:off x="801014" y="4367174"/>
            <a:ext cx="190195" cy="190195"/>
          </a:xfrm>
          <a:prstGeom prst="rect">
            <a:avLst/>
          </a:prstGeom>
        </p:spPr>
      </p:pic>
      <p:sp>
        <p:nvSpPr>
          <p:cNvPr id="32" name="Text 23"/>
          <p:cNvSpPr/>
          <p:nvPr/>
        </p:nvSpPr>
        <p:spPr>
          <a:xfrm>
            <a:off x="1170432" y="4178808"/>
            <a:ext cx="1828800" cy="566928"/>
          </a:xfrm>
          <a:prstGeom prst="rect">
            <a:avLst/>
          </a:prstGeom>
          <a:noFill/>
          <a:ln/>
        </p:spPr>
        <p:txBody>
          <a:bodyPr wrap="square" lIns="0" tIns="0" rIns="0" bIns="0" rtlCol="0" anchor="ctr"/>
          <a:lstStyle/>
          <a:p>
            <a:pPr indent="0" marL="0">
              <a:buNone/>
            </a:pPr>
            <a:r>
              <a:rPr lang="en-US" sz="1050" b="1" dirty="0">
                <a:solidFill>
                  <a:srgbClr val="12294B"/>
                </a:solidFill>
                <a:latin typeface="Calibri" pitchFamily="34" charset="0"/>
                <a:ea typeface="Calibri" pitchFamily="34" charset="-122"/>
                <a:cs typeface="Calibri" pitchFamily="34" charset="-120"/>
              </a:rPr>
              <a:t>Hold Shipment</a:t>
            </a:r>
            <a:endParaRPr lang="en-US" sz="1050" dirty="0"/>
          </a:p>
        </p:txBody>
      </p:sp>
      <p:sp>
        <p:nvSpPr>
          <p:cNvPr id="33" name="Shape 24"/>
          <p:cNvSpPr/>
          <p:nvPr/>
        </p:nvSpPr>
        <p:spPr>
          <a:xfrm>
            <a:off x="3209544" y="4178808"/>
            <a:ext cx="2514600" cy="566928"/>
          </a:xfrm>
          <a:prstGeom prst="roundRect">
            <a:avLst>
              <a:gd name="adj" fmla="val 12903"/>
            </a:avLst>
          </a:prstGeom>
          <a:solidFill>
            <a:srgbClr val="FFFFFF"/>
          </a:solidFill>
          <a:ln/>
          <a:effectLst>
            <a:outerShdw sx="100000" sy="100000" kx="0" ky="0" algn="bl" rotWithShape="0" blurRad="101600" dist="38100" dir="5400000">
              <a:srgbClr val="1B2A47">
                <a:alpha val="18000"/>
              </a:srgbClr>
            </a:outerShdw>
          </a:effectLst>
        </p:spPr>
      </p:sp>
      <p:sp>
        <p:nvSpPr>
          <p:cNvPr id="34" name="Shape 25"/>
          <p:cNvSpPr/>
          <p:nvPr/>
        </p:nvSpPr>
        <p:spPr>
          <a:xfrm>
            <a:off x="3374136" y="4279392"/>
            <a:ext cx="365760" cy="365760"/>
          </a:xfrm>
          <a:prstGeom prst="ellipse">
            <a:avLst/>
          </a:prstGeom>
          <a:solidFill>
            <a:srgbClr val="12294B"/>
          </a:solidFill>
          <a:ln/>
        </p:spPr>
      </p:sp>
      <p:pic>
        <p:nvPicPr>
          <p:cNvPr id="35" name="Image 7" descr="/private/tmp/claude-501/-Users-prashantrohidaskamble-Desktop-courier-management/e0ec2727-54e8-4bc0-83a4-c389b4bb4ea6/scratchpad/courier-ppt/icons/undo_amber.png">    </p:cNvPr>
          <p:cNvPicPr>
            <a:picLocks noChangeAspect="1"/>
          </p:cNvPicPr>
          <p:nvPr/>
        </p:nvPicPr>
        <p:blipFill>
          <a:blip r:embed="rId8"/>
          <a:stretch>
            <a:fillRect/>
          </a:stretch>
        </p:blipFill>
        <p:spPr>
          <a:xfrm>
            <a:off x="3461918" y="4367174"/>
            <a:ext cx="190195" cy="190195"/>
          </a:xfrm>
          <a:prstGeom prst="rect">
            <a:avLst/>
          </a:prstGeom>
        </p:spPr>
      </p:pic>
      <p:sp>
        <p:nvSpPr>
          <p:cNvPr id="36" name="Text 26"/>
          <p:cNvSpPr/>
          <p:nvPr/>
        </p:nvSpPr>
        <p:spPr>
          <a:xfrm>
            <a:off x="3831336" y="4178808"/>
            <a:ext cx="1828800" cy="566928"/>
          </a:xfrm>
          <a:prstGeom prst="rect">
            <a:avLst/>
          </a:prstGeom>
          <a:noFill/>
          <a:ln/>
        </p:spPr>
        <p:txBody>
          <a:bodyPr wrap="square" lIns="0" tIns="0" rIns="0" bIns="0" rtlCol="0" anchor="ctr"/>
          <a:lstStyle/>
          <a:p>
            <a:pPr indent="0" marL="0">
              <a:buNone/>
            </a:pPr>
            <a:r>
              <a:rPr lang="en-US" sz="1050" b="1" dirty="0">
                <a:solidFill>
                  <a:srgbClr val="12294B"/>
                </a:solidFill>
                <a:latin typeface="Calibri" pitchFamily="34" charset="0"/>
                <a:ea typeface="Calibri" pitchFamily="34" charset="-122"/>
                <a:cs typeface="Calibri" pitchFamily="34" charset="-120"/>
              </a:rPr>
              <a:t>RTO</a:t>
            </a:r>
            <a:endParaRPr lang="en-US" sz="1050" dirty="0"/>
          </a:p>
        </p:txBody>
      </p:sp>
      <p:sp>
        <p:nvSpPr>
          <p:cNvPr id="37" name="Shape 27"/>
          <p:cNvSpPr/>
          <p:nvPr/>
        </p:nvSpPr>
        <p:spPr>
          <a:xfrm>
            <a:off x="6071616" y="2093976"/>
            <a:ext cx="5870448" cy="3963052"/>
          </a:xfrm>
          <a:prstGeom prst="rect">
            <a:avLst/>
          </a:prstGeom>
          <a:solidFill>
            <a:srgbClr val="FFFFFF"/>
          </a:solidFill>
          <a:ln/>
          <a:effectLst>
            <a:outerShdw sx="100000" sy="100000" kx="0" ky="0" algn="bl" rotWithShape="0" blurRad="203200" dist="76200" dir="5400000">
              <a:srgbClr val="000000">
                <a:alpha val="22000"/>
              </a:srgbClr>
            </a:outerShdw>
          </a:effectLst>
        </p:spPr>
      </p:sp>
      <p:pic>
        <p:nvPicPr>
          <p:cNvPr id="38" name="Image 8" descr="/private/tmp/claude-501/-Users-prashantrohidaskamble-Desktop-courier-management/e0ec2727-54e8-4bc0-83a4-c389b4bb4ea6/scratchpad/courier-ppt/shots/cropped/tickets.jpg">    </p:cNvPr>
          <p:cNvPicPr>
            <a:picLocks noChangeAspect="1"/>
          </p:cNvPicPr>
          <p:nvPr/>
        </p:nvPicPr>
        <p:blipFill>
          <a:blip r:embed="rId9"/>
          <a:stretch>
            <a:fillRect/>
          </a:stretch>
        </p:blipFill>
        <p:spPr>
          <a:xfrm>
            <a:off x="6126480" y="2148840"/>
            <a:ext cx="5760720" cy="3853324"/>
          </a:xfrm>
          <a:prstGeom prst="rect">
            <a:avLst/>
          </a:prstGeom>
        </p:spPr>
      </p:pic>
      <p:sp>
        <p:nvSpPr>
          <p:cNvPr id="39" name="Shape 28"/>
          <p:cNvSpPr/>
          <p:nvPr/>
        </p:nvSpPr>
        <p:spPr>
          <a:xfrm>
            <a:off x="6126480" y="2148840"/>
            <a:ext cx="5760720" cy="3853324"/>
          </a:xfrm>
          <a:prstGeom prst="rect">
            <a:avLst/>
          </a:prstGeom>
          <a:ln w="12700">
            <a:solidFill>
              <a:srgbClr val="D8E1EC"/>
            </a:solidFill>
            <a:prstDash val="solid"/>
          </a:ln>
        </p:spPr>
      </p:sp>
      <p:sp>
        <p:nvSpPr>
          <p:cNvPr id="40" name="Text 29"/>
          <p:cNvSpPr/>
          <p:nvPr/>
        </p:nvSpPr>
        <p:spPr>
          <a:xfrm>
            <a:off x="6126480" y="6130180"/>
            <a:ext cx="5760720" cy="274320"/>
          </a:xfrm>
          <a:prstGeom prst="rect">
            <a:avLst/>
          </a:prstGeom>
          <a:noFill/>
          <a:ln/>
        </p:spPr>
        <p:txBody>
          <a:bodyPr wrap="square" lIns="0" tIns="0" rIns="0" bIns="0" rtlCol="0" anchor="ctr"/>
          <a:lstStyle/>
          <a:p>
            <a:pPr algn="ctr" indent="0" marL="0">
              <a:buNone/>
            </a:pPr>
            <a:r>
              <a:rPr lang="en-US" sz="1050" i="1" dirty="0">
                <a:solidFill>
                  <a:srgbClr val="5B7A9D"/>
                </a:solidFill>
                <a:latin typeface="Calibri" pitchFamily="34" charset="0"/>
                <a:ea typeface="Calibri" pitchFamily="34" charset="-122"/>
                <a:cs typeface="Calibri" pitchFamily="34" charset="-120"/>
              </a:rPr>
              <a:t>Category, priority, SLA, branch and assigned agent are tracked per ticket.</a:t>
            </a:r>
            <a:endParaRPr lang="en-US" sz="1050" dirty="0"/>
          </a:p>
        </p:txBody>
      </p:sp>
      <p:sp>
        <p:nvSpPr>
          <p:cNvPr id="42" name="Text 30"/>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457200"/>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VISIBILITY</a:t>
            </a:r>
            <a:endParaRPr lang="en-US" sz="1100" dirty="0"/>
          </a:p>
        </p:txBody>
      </p:sp>
      <p:sp>
        <p:nvSpPr>
          <p:cNvPr id="3" name="Text 1"/>
          <p:cNvSpPr/>
          <p:nvPr/>
        </p:nvSpPr>
        <p:spPr>
          <a:xfrm>
            <a:off x="548640" y="713232"/>
            <a:ext cx="10515600" cy="731520"/>
          </a:xfrm>
          <a:prstGeom prst="rect">
            <a:avLst/>
          </a:prstGeom>
          <a:noFill/>
          <a:ln/>
        </p:spPr>
        <p:txBody>
          <a:bodyPr wrap="square" lIns="0" tIns="0" rIns="0" bIns="0" rtlCol="0" anchor="ctr"/>
          <a:lstStyle/>
          <a:p>
            <a:pPr indent="0" marL="0">
              <a:buNone/>
            </a:pPr>
            <a:r>
              <a:rPr lang="en-US" sz="3200" b="1" dirty="0">
                <a:solidFill>
                  <a:srgbClr val="12294B"/>
                </a:solidFill>
                <a:latin typeface="Cambria" pitchFamily="34" charset="0"/>
                <a:ea typeface="Cambria" pitchFamily="34" charset="-122"/>
                <a:cs typeface="Cambria" pitchFamily="34" charset="-120"/>
              </a:rPr>
              <a:t>Operations Dashboard</a:t>
            </a:r>
            <a:endParaRPr lang="en-US" sz="3200" dirty="0"/>
          </a:p>
        </p:txBody>
      </p:sp>
      <p:sp>
        <p:nvSpPr>
          <p:cNvPr id="4" name="Text 2"/>
          <p:cNvSpPr/>
          <p:nvPr/>
        </p:nvSpPr>
        <p:spPr>
          <a:xfrm>
            <a:off x="548640" y="1417320"/>
            <a:ext cx="10515600" cy="45720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A single, live view of shipment activity across every stage of the operation, company-wide.</a:t>
            </a:r>
            <a:endParaRPr lang="en-US" sz="1300" dirty="0"/>
          </a:p>
        </p:txBody>
      </p:sp>
      <p:sp>
        <p:nvSpPr>
          <p:cNvPr id="5" name="Shape 3"/>
          <p:cNvSpPr/>
          <p:nvPr/>
        </p:nvSpPr>
        <p:spPr>
          <a:xfrm>
            <a:off x="2656332" y="1819656"/>
            <a:ext cx="6876288" cy="4635855"/>
          </a:xfrm>
          <a:prstGeom prst="rect">
            <a:avLst/>
          </a:prstGeom>
          <a:solidFill>
            <a:srgbClr val="FFFFFF"/>
          </a:solidFill>
          <a:ln/>
          <a:effectLst>
            <a:outerShdw sx="100000" sy="100000" kx="0" ky="0" algn="bl" rotWithShape="0" blurRad="203200" dist="76200" dir="5400000">
              <a:srgbClr val="000000">
                <a:alpha val="22000"/>
              </a:srgbClr>
            </a:outerShdw>
          </a:effectLst>
        </p:spPr>
      </p:sp>
      <p:pic>
        <p:nvPicPr>
          <p:cNvPr id="6" name="Image 0" descr="/private/tmp/claude-501/-Users-prashantrohidaskamble-Desktop-courier-management/e0ec2727-54e8-4bc0-83a4-c389b4bb4ea6/scratchpad/courier-ppt/shots/cropped/companydash2.jpg">    </p:cNvPr>
          <p:cNvPicPr>
            <a:picLocks noChangeAspect="1"/>
          </p:cNvPicPr>
          <p:nvPr/>
        </p:nvPicPr>
        <p:blipFill>
          <a:blip r:embed="rId1"/>
          <a:stretch>
            <a:fillRect/>
          </a:stretch>
        </p:blipFill>
        <p:spPr>
          <a:xfrm>
            <a:off x="2711196" y="1874520"/>
            <a:ext cx="6766560" cy="4526127"/>
          </a:xfrm>
          <a:prstGeom prst="rect">
            <a:avLst/>
          </a:prstGeom>
        </p:spPr>
      </p:pic>
      <p:sp>
        <p:nvSpPr>
          <p:cNvPr id="7" name="Shape 4"/>
          <p:cNvSpPr/>
          <p:nvPr/>
        </p:nvSpPr>
        <p:spPr>
          <a:xfrm>
            <a:off x="2711196" y="1874520"/>
            <a:ext cx="6766560" cy="4526127"/>
          </a:xfrm>
          <a:prstGeom prst="rect">
            <a:avLst/>
          </a:prstGeom>
          <a:ln w="12700">
            <a:solidFill>
              <a:srgbClr val="D8E1EC"/>
            </a:solidFill>
            <a:prstDash val="solid"/>
          </a:ln>
        </p:spPr>
      </p:sp>
      <p:sp>
        <p:nvSpPr>
          <p:cNvPr id="9" name="Text 5"/>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D38"/>
        </a:solidFill>
      </p:bgPr>
    </p:bg>
    <p:spTree>
      <p:nvGrpSpPr>
        <p:cNvPr id="1" name=""/>
        <p:cNvGrpSpPr/>
        <p:nvPr/>
      </p:nvGrpSpPr>
      <p:grpSpPr>
        <a:xfrm>
          <a:off x="0" y="0"/>
          <a:ext cx="0" cy="0"/>
          <a:chOff x="0" y="0"/>
          <a:chExt cx="0" cy="0"/>
        </a:xfrm>
      </p:grpSpPr>
      <p:sp>
        <p:nvSpPr>
          <p:cNvPr id="2" name="Shape 0"/>
          <p:cNvSpPr/>
          <p:nvPr/>
        </p:nvSpPr>
        <p:spPr>
          <a:xfrm>
            <a:off x="8686800" y="4114800"/>
            <a:ext cx="5486400" cy="5486400"/>
          </a:xfrm>
          <a:prstGeom prst="ellipse">
            <a:avLst/>
          </a:prstGeom>
          <a:solidFill>
            <a:srgbClr val="12294B"/>
          </a:solidFill>
          <a:ln/>
        </p:spPr>
      </p:sp>
      <p:sp>
        <p:nvSpPr>
          <p:cNvPr id="3" name="Text 1"/>
          <p:cNvSpPr/>
          <p:nvPr/>
        </p:nvSpPr>
        <p:spPr>
          <a:xfrm>
            <a:off x="548640" y="457200"/>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IMPACT</a:t>
            </a:r>
            <a:endParaRPr lang="en-US" sz="1100" dirty="0"/>
          </a:p>
        </p:txBody>
      </p:sp>
      <p:sp>
        <p:nvSpPr>
          <p:cNvPr id="4" name="Text 2"/>
          <p:cNvSpPr/>
          <p:nvPr/>
        </p:nvSpPr>
        <p:spPr>
          <a:xfrm>
            <a:off x="548640" y="713232"/>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Operational Benefits</a:t>
            </a:r>
            <a:endParaRPr lang="en-US" sz="3200" dirty="0"/>
          </a:p>
        </p:txBody>
      </p:sp>
      <p:sp>
        <p:nvSpPr>
          <p:cNvPr id="5" name="Shape 3"/>
          <p:cNvSpPr/>
          <p:nvPr/>
        </p:nvSpPr>
        <p:spPr>
          <a:xfrm>
            <a:off x="548640" y="2148840"/>
            <a:ext cx="3355848" cy="1371600"/>
          </a:xfrm>
          <a:prstGeom prst="roundRect">
            <a:avLst>
              <a:gd name="adj" fmla="val 5333"/>
            </a:avLst>
          </a:prstGeom>
          <a:solidFill>
            <a:srgbClr val="12294B"/>
          </a:solidFill>
          <a:ln/>
        </p:spPr>
      </p:sp>
      <p:sp>
        <p:nvSpPr>
          <p:cNvPr id="6" name="Shape 4"/>
          <p:cNvSpPr/>
          <p:nvPr/>
        </p:nvSpPr>
        <p:spPr>
          <a:xfrm>
            <a:off x="914400" y="2468880"/>
            <a:ext cx="731520" cy="731520"/>
          </a:xfrm>
          <a:prstGeom prst="ellipse">
            <a:avLst/>
          </a:prstGeom>
          <a:solidFill>
            <a:srgbClr val="0B1D38"/>
          </a:solidFill>
          <a:ln/>
        </p:spPr>
      </p:sp>
      <p:pic>
        <p:nvPicPr>
          <p:cNvPr id="7" name="Image 0" descr="/private/tmp/claude-501/-Users-prashantrohidaskamble-Desktop-courier-management/e0ec2727-54e8-4bc0-83a4-c389b4bb4ea6/scratchpad/courier-ppt/icons/bolt_amber.png">    </p:cNvPr>
          <p:cNvPicPr>
            <a:picLocks noChangeAspect="1"/>
          </p:cNvPicPr>
          <p:nvPr/>
        </p:nvPicPr>
        <p:blipFill>
          <a:blip r:embed="rId1"/>
          <a:stretch>
            <a:fillRect/>
          </a:stretch>
        </p:blipFill>
        <p:spPr>
          <a:xfrm>
            <a:off x="1089965" y="2644445"/>
            <a:ext cx="380390" cy="380390"/>
          </a:xfrm>
          <a:prstGeom prst="rect">
            <a:avLst/>
          </a:prstGeom>
        </p:spPr>
      </p:pic>
      <p:sp>
        <p:nvSpPr>
          <p:cNvPr id="8" name="Text 5"/>
          <p:cNvSpPr/>
          <p:nvPr/>
        </p:nvSpPr>
        <p:spPr>
          <a:xfrm>
            <a:off x="1783080" y="2148840"/>
            <a:ext cx="1984248" cy="13716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Faster Shipment Processing</a:t>
            </a:r>
            <a:endParaRPr lang="en-US" sz="1250" dirty="0"/>
          </a:p>
        </p:txBody>
      </p:sp>
      <p:sp>
        <p:nvSpPr>
          <p:cNvPr id="9" name="Shape 6"/>
          <p:cNvSpPr/>
          <p:nvPr/>
        </p:nvSpPr>
        <p:spPr>
          <a:xfrm>
            <a:off x="4087368" y="2148840"/>
            <a:ext cx="3355848" cy="1371600"/>
          </a:xfrm>
          <a:prstGeom prst="roundRect">
            <a:avLst>
              <a:gd name="adj" fmla="val 5333"/>
            </a:avLst>
          </a:prstGeom>
          <a:solidFill>
            <a:srgbClr val="12294B"/>
          </a:solidFill>
          <a:ln/>
        </p:spPr>
      </p:sp>
      <p:sp>
        <p:nvSpPr>
          <p:cNvPr id="10" name="Shape 7"/>
          <p:cNvSpPr/>
          <p:nvPr/>
        </p:nvSpPr>
        <p:spPr>
          <a:xfrm>
            <a:off x="4453128" y="2468880"/>
            <a:ext cx="731520" cy="731520"/>
          </a:xfrm>
          <a:prstGeom prst="ellipse">
            <a:avLst/>
          </a:prstGeom>
          <a:solidFill>
            <a:srgbClr val="0B1D38"/>
          </a:solidFill>
          <a:ln/>
        </p:spPr>
      </p:sp>
      <p:pic>
        <p:nvPicPr>
          <p:cNvPr id="11" name="Image 1" descr="/private/tmp/claude-501/-Users-prashantrohidaskamble-Desktop-courier-management/e0ec2727-54e8-4bc0-83a4-c389b4bb4ea6/scratchpad/courier-ppt/icons/eye_amber.png">    </p:cNvPr>
          <p:cNvPicPr>
            <a:picLocks noChangeAspect="1"/>
          </p:cNvPicPr>
          <p:nvPr/>
        </p:nvPicPr>
        <p:blipFill>
          <a:blip r:embed="rId2"/>
          <a:stretch>
            <a:fillRect/>
          </a:stretch>
        </p:blipFill>
        <p:spPr>
          <a:xfrm>
            <a:off x="4628693" y="2644445"/>
            <a:ext cx="380390" cy="380390"/>
          </a:xfrm>
          <a:prstGeom prst="rect">
            <a:avLst/>
          </a:prstGeom>
        </p:spPr>
      </p:pic>
      <p:sp>
        <p:nvSpPr>
          <p:cNvPr id="12" name="Text 8"/>
          <p:cNvSpPr/>
          <p:nvPr/>
        </p:nvSpPr>
        <p:spPr>
          <a:xfrm>
            <a:off x="5321808" y="2148840"/>
            <a:ext cx="1984248" cy="13716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Real-Time Shipment Visibility</a:t>
            </a:r>
            <a:endParaRPr lang="en-US" sz="1250" dirty="0"/>
          </a:p>
        </p:txBody>
      </p:sp>
      <p:sp>
        <p:nvSpPr>
          <p:cNvPr id="13" name="Shape 9"/>
          <p:cNvSpPr/>
          <p:nvPr/>
        </p:nvSpPr>
        <p:spPr>
          <a:xfrm>
            <a:off x="7626096" y="2148840"/>
            <a:ext cx="3355848" cy="1371600"/>
          </a:xfrm>
          <a:prstGeom prst="roundRect">
            <a:avLst>
              <a:gd name="adj" fmla="val 5333"/>
            </a:avLst>
          </a:prstGeom>
          <a:solidFill>
            <a:srgbClr val="12294B"/>
          </a:solidFill>
          <a:ln/>
        </p:spPr>
      </p:sp>
      <p:sp>
        <p:nvSpPr>
          <p:cNvPr id="14" name="Shape 10"/>
          <p:cNvSpPr/>
          <p:nvPr/>
        </p:nvSpPr>
        <p:spPr>
          <a:xfrm>
            <a:off x="7991856" y="2468880"/>
            <a:ext cx="731520" cy="731520"/>
          </a:xfrm>
          <a:prstGeom prst="ellipse">
            <a:avLst/>
          </a:prstGeom>
          <a:solidFill>
            <a:srgbClr val="0B1D38"/>
          </a:solidFill>
          <a:ln/>
        </p:spPr>
      </p:sp>
      <p:pic>
        <p:nvPicPr>
          <p:cNvPr id="15" name="Image 2" descr="/private/tmp/claude-501/-Users-prashantrohidaskamble-Desktop-courier-management/e0ec2727-54e8-4bc0-83a4-c389b4bb4ea6/scratchpad/courier-ppt/icons/cogs_amber.png">    </p:cNvPr>
          <p:cNvPicPr>
            <a:picLocks noChangeAspect="1"/>
          </p:cNvPicPr>
          <p:nvPr/>
        </p:nvPicPr>
        <p:blipFill>
          <a:blip r:embed="rId3"/>
          <a:stretch>
            <a:fillRect/>
          </a:stretch>
        </p:blipFill>
        <p:spPr>
          <a:xfrm>
            <a:off x="8167421" y="2644445"/>
            <a:ext cx="380390" cy="380390"/>
          </a:xfrm>
          <a:prstGeom prst="rect">
            <a:avLst/>
          </a:prstGeom>
        </p:spPr>
      </p:pic>
      <p:sp>
        <p:nvSpPr>
          <p:cNvPr id="16" name="Text 11"/>
          <p:cNvSpPr/>
          <p:nvPr/>
        </p:nvSpPr>
        <p:spPr>
          <a:xfrm>
            <a:off x="8860536" y="2148840"/>
            <a:ext cx="1984248" cy="13716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Reduced Manual Work</a:t>
            </a:r>
            <a:endParaRPr lang="en-US" sz="1250" dirty="0"/>
          </a:p>
        </p:txBody>
      </p:sp>
      <p:sp>
        <p:nvSpPr>
          <p:cNvPr id="17" name="Shape 12"/>
          <p:cNvSpPr/>
          <p:nvPr/>
        </p:nvSpPr>
        <p:spPr>
          <a:xfrm>
            <a:off x="548640" y="3721608"/>
            <a:ext cx="3355848" cy="1371600"/>
          </a:xfrm>
          <a:prstGeom prst="roundRect">
            <a:avLst>
              <a:gd name="adj" fmla="val 5333"/>
            </a:avLst>
          </a:prstGeom>
          <a:solidFill>
            <a:srgbClr val="12294B"/>
          </a:solidFill>
          <a:ln/>
        </p:spPr>
      </p:sp>
      <p:sp>
        <p:nvSpPr>
          <p:cNvPr id="18" name="Shape 13"/>
          <p:cNvSpPr/>
          <p:nvPr/>
        </p:nvSpPr>
        <p:spPr>
          <a:xfrm>
            <a:off x="914400" y="4041648"/>
            <a:ext cx="731520" cy="731520"/>
          </a:xfrm>
          <a:prstGeom prst="ellipse">
            <a:avLst/>
          </a:prstGeom>
          <a:solidFill>
            <a:srgbClr val="0B1D38"/>
          </a:solidFill>
          <a:ln/>
        </p:spPr>
      </p:sp>
      <p:pic>
        <p:nvPicPr>
          <p:cNvPr id="19" name="Image 3" descr="/private/tmp/claude-501/-Users-prashantrohidaskamble-Desktop-courier-management/e0ec2727-54e8-4bc0-83a4-c389b4bb4ea6/scratchpad/courier-ppt/icons/network_amber.png">    </p:cNvPr>
          <p:cNvPicPr>
            <a:picLocks noChangeAspect="1"/>
          </p:cNvPicPr>
          <p:nvPr/>
        </p:nvPicPr>
        <p:blipFill>
          <a:blip r:embed="rId4"/>
          <a:stretch>
            <a:fillRect/>
          </a:stretch>
        </p:blipFill>
        <p:spPr>
          <a:xfrm>
            <a:off x="1089965" y="4217213"/>
            <a:ext cx="380390" cy="380390"/>
          </a:xfrm>
          <a:prstGeom prst="rect">
            <a:avLst/>
          </a:prstGeom>
        </p:spPr>
      </p:pic>
      <p:sp>
        <p:nvSpPr>
          <p:cNvPr id="20" name="Text 14"/>
          <p:cNvSpPr/>
          <p:nvPr/>
        </p:nvSpPr>
        <p:spPr>
          <a:xfrm>
            <a:off x="1783080" y="3721608"/>
            <a:ext cx="1984248" cy="13716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Better Branch &amp; Hub Coordination</a:t>
            </a:r>
            <a:endParaRPr lang="en-US" sz="1250" dirty="0"/>
          </a:p>
        </p:txBody>
      </p:sp>
      <p:sp>
        <p:nvSpPr>
          <p:cNvPr id="21" name="Shape 15"/>
          <p:cNvSpPr/>
          <p:nvPr/>
        </p:nvSpPr>
        <p:spPr>
          <a:xfrm>
            <a:off x="4087368" y="3721608"/>
            <a:ext cx="3355848" cy="1371600"/>
          </a:xfrm>
          <a:prstGeom prst="roundRect">
            <a:avLst>
              <a:gd name="adj" fmla="val 5333"/>
            </a:avLst>
          </a:prstGeom>
          <a:solidFill>
            <a:srgbClr val="12294B"/>
          </a:solidFill>
          <a:ln/>
        </p:spPr>
      </p:sp>
      <p:sp>
        <p:nvSpPr>
          <p:cNvPr id="22" name="Shape 16"/>
          <p:cNvSpPr/>
          <p:nvPr/>
        </p:nvSpPr>
        <p:spPr>
          <a:xfrm>
            <a:off x="4453128" y="4041648"/>
            <a:ext cx="731520" cy="731520"/>
          </a:xfrm>
          <a:prstGeom prst="ellipse">
            <a:avLst/>
          </a:prstGeom>
          <a:solidFill>
            <a:srgbClr val="0B1D38"/>
          </a:solidFill>
          <a:ln/>
        </p:spPr>
      </p:sp>
      <p:pic>
        <p:nvPicPr>
          <p:cNvPr id="23" name="Image 4" descr="/private/tmp/claude-501/-Users-prashantrohidaskamble-Desktop-courier-management/e0ec2727-54e8-4bc0-83a4-c389b4bb4ea6/scratchpad/courier-ppt/icons/checkCircle_amber.png">    </p:cNvPr>
          <p:cNvPicPr>
            <a:picLocks noChangeAspect="1"/>
          </p:cNvPicPr>
          <p:nvPr/>
        </p:nvPicPr>
        <p:blipFill>
          <a:blip r:embed="rId5"/>
          <a:stretch>
            <a:fillRect/>
          </a:stretch>
        </p:blipFill>
        <p:spPr>
          <a:xfrm>
            <a:off x="4628693" y="4217213"/>
            <a:ext cx="380390" cy="380390"/>
          </a:xfrm>
          <a:prstGeom prst="rect">
            <a:avLst/>
          </a:prstGeom>
        </p:spPr>
      </p:pic>
      <p:sp>
        <p:nvSpPr>
          <p:cNvPr id="24" name="Text 17"/>
          <p:cNvSpPr/>
          <p:nvPr/>
        </p:nvSpPr>
        <p:spPr>
          <a:xfrm>
            <a:off x="5321808" y="3721608"/>
            <a:ext cx="1984248" cy="13716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Controlled Dispatch Process</a:t>
            </a:r>
            <a:endParaRPr lang="en-US" sz="1250" dirty="0"/>
          </a:p>
        </p:txBody>
      </p:sp>
      <p:sp>
        <p:nvSpPr>
          <p:cNvPr id="25" name="Shape 18"/>
          <p:cNvSpPr/>
          <p:nvPr/>
        </p:nvSpPr>
        <p:spPr>
          <a:xfrm>
            <a:off x="7626096" y="3721608"/>
            <a:ext cx="3355848" cy="1371600"/>
          </a:xfrm>
          <a:prstGeom prst="roundRect">
            <a:avLst>
              <a:gd name="adj" fmla="val 5333"/>
            </a:avLst>
          </a:prstGeom>
          <a:solidFill>
            <a:srgbClr val="12294B"/>
          </a:solidFill>
          <a:ln/>
        </p:spPr>
      </p:sp>
      <p:sp>
        <p:nvSpPr>
          <p:cNvPr id="26" name="Shape 19"/>
          <p:cNvSpPr/>
          <p:nvPr/>
        </p:nvSpPr>
        <p:spPr>
          <a:xfrm>
            <a:off x="7991856" y="4041648"/>
            <a:ext cx="731520" cy="731520"/>
          </a:xfrm>
          <a:prstGeom prst="ellipse">
            <a:avLst/>
          </a:prstGeom>
          <a:solidFill>
            <a:srgbClr val="0B1D38"/>
          </a:solidFill>
          <a:ln/>
        </p:spPr>
      </p:sp>
      <p:pic>
        <p:nvPicPr>
          <p:cNvPr id="27" name="Image 5" descr="/private/tmp/claude-501/-Users-prashantrohidaskamble-Desktop-courier-management/e0ec2727-54e8-4bc0-83a4-c389b4bb4ea6/scratchpad/courier-ppt/icons/barcode_amber.png">    </p:cNvPr>
          <p:cNvPicPr>
            <a:picLocks noChangeAspect="1"/>
          </p:cNvPicPr>
          <p:nvPr/>
        </p:nvPicPr>
        <p:blipFill>
          <a:blip r:embed="rId6"/>
          <a:stretch>
            <a:fillRect/>
          </a:stretch>
        </p:blipFill>
        <p:spPr>
          <a:xfrm>
            <a:off x="8167421" y="4217213"/>
            <a:ext cx="380390" cy="380390"/>
          </a:xfrm>
          <a:prstGeom prst="rect">
            <a:avLst/>
          </a:prstGeom>
        </p:spPr>
      </p:pic>
      <p:sp>
        <p:nvSpPr>
          <p:cNvPr id="28" name="Text 20"/>
          <p:cNvSpPr/>
          <p:nvPr/>
        </p:nvSpPr>
        <p:spPr>
          <a:xfrm>
            <a:off x="8860536" y="3721608"/>
            <a:ext cx="1984248" cy="13716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Accurate Shipment Tracking</a:t>
            </a:r>
            <a:endParaRPr lang="en-US" sz="1250" dirty="0"/>
          </a:p>
        </p:txBody>
      </p:sp>
      <p:sp>
        <p:nvSpPr>
          <p:cNvPr id="29" name="Shape 21"/>
          <p:cNvSpPr/>
          <p:nvPr/>
        </p:nvSpPr>
        <p:spPr>
          <a:xfrm>
            <a:off x="548640" y="5294376"/>
            <a:ext cx="3355848" cy="1371600"/>
          </a:xfrm>
          <a:prstGeom prst="roundRect">
            <a:avLst>
              <a:gd name="adj" fmla="val 5333"/>
            </a:avLst>
          </a:prstGeom>
          <a:solidFill>
            <a:srgbClr val="12294B"/>
          </a:solidFill>
          <a:ln/>
        </p:spPr>
      </p:sp>
      <p:sp>
        <p:nvSpPr>
          <p:cNvPr id="30" name="Shape 22"/>
          <p:cNvSpPr/>
          <p:nvPr/>
        </p:nvSpPr>
        <p:spPr>
          <a:xfrm>
            <a:off x="914400" y="5614416"/>
            <a:ext cx="731520" cy="731520"/>
          </a:xfrm>
          <a:prstGeom prst="ellipse">
            <a:avLst/>
          </a:prstGeom>
          <a:solidFill>
            <a:srgbClr val="0B1D38"/>
          </a:solidFill>
          <a:ln/>
        </p:spPr>
      </p:sp>
      <p:pic>
        <p:nvPicPr>
          <p:cNvPr id="31" name="Image 6" descr="/private/tmp/claude-501/-Users-prashantrohidaskamble-Desktop-courier-management/e0ec2727-54e8-4bc0-83a4-c389b4bb4ea6/scratchpad/courier-ppt/icons/truck_amber.png">    </p:cNvPr>
          <p:cNvPicPr>
            <a:picLocks noChangeAspect="1"/>
          </p:cNvPicPr>
          <p:nvPr/>
        </p:nvPicPr>
        <p:blipFill>
          <a:blip r:embed="rId7"/>
          <a:stretch>
            <a:fillRect/>
          </a:stretch>
        </p:blipFill>
        <p:spPr>
          <a:xfrm>
            <a:off x="1089965" y="5789981"/>
            <a:ext cx="380390" cy="380390"/>
          </a:xfrm>
          <a:prstGeom prst="rect">
            <a:avLst/>
          </a:prstGeom>
        </p:spPr>
      </p:pic>
      <p:sp>
        <p:nvSpPr>
          <p:cNvPr id="32" name="Text 23"/>
          <p:cNvSpPr/>
          <p:nvPr/>
        </p:nvSpPr>
        <p:spPr>
          <a:xfrm>
            <a:off x="1783080" y="5294376"/>
            <a:ext cx="1984248" cy="13716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Faster Delivery Operations</a:t>
            </a:r>
            <a:endParaRPr lang="en-US" sz="1250" dirty="0"/>
          </a:p>
        </p:txBody>
      </p:sp>
      <p:sp>
        <p:nvSpPr>
          <p:cNvPr id="34" name="Text 24"/>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2026-09-23T05:53:50Z</dcterms:created>
  <dcterms:modified xsi:type="dcterms:W3CDTF">2026-09-23T05:53:50Z</dcterms:modified>
</cp:coreProperties>
</file>