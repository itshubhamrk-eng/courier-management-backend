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Booked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74</c:v>
                </c:pt>
                <c:pt idx="2">
                  <c:v>68</c:v>
                </c:pt>
                <c:pt idx="3">
                  <c:v>90</c:v>
                </c:pt>
                <c:pt idx="4">
                  <c:v>85</c:v>
                </c:pt>
                <c:pt idx="5">
                  <c:v>55</c:v>
                </c:pt>
                <c:pt idx="6">
                  <c:v>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rgbClr val="14213D"/>
            </a:solidFill>
            <a:ln w="3175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50</c:v>
                </c:pt>
                <c:pt idx="1">
                  <c:v>60</c:v>
                </c:pt>
                <c:pt idx="2">
                  <c:v>64</c:v>
                </c:pt>
                <c:pt idx="3">
                  <c:v>78</c:v>
                </c:pt>
                <c:pt idx="4">
                  <c:v>80</c:v>
                </c:pt>
                <c:pt idx="5">
                  <c:v>60</c:v>
                </c:pt>
                <c:pt idx="6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21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4213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76376"/>
            <a:ext cx="710489" cy="7104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MANAGEMENT SYSTEM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Software Works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Shipment Booking, Wallet Recharge, the Operations Dashboard,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platform’s core reports.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433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 •  Angular + Spring Boot  •  Role-Based Access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0220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8553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74920" y="1527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075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tenants and roles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7602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58" y="185531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07040" y="1527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Booking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075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to consignment note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451860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354695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74920" y="3218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to Delivery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691640" y="3767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dispatch and proof of delivery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80760" y="31089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45186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58" y="3546958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607040" y="3218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Recharge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223760" y="3767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branch wallets and top-ups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800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143500"/>
            <a:ext cx="731520" cy="7315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5238598"/>
            <a:ext cx="541325" cy="54132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74920" y="4910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1691640" y="5056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1691640" y="5458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for every role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080760" y="4800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309360" y="514350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458" y="5238598"/>
            <a:ext cx="541325" cy="54132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607040" y="4910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7223760" y="5056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Suite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7223760" y="5458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reports that run the business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Codebase, Many Companies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multi-tenant SaaS: every company that signs up gets its own branches, staff, customers and data — fully isolated on shared infrastructure.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585216" cy="58521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18" y="2275210"/>
            <a:ext cx="433060" cy="4330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167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514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— booking, dashboard, reports UI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rot="10800000">
            <a:off x="5760720" y="2935224"/>
            <a:ext cx="182880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127248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26898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18" y="3345058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58444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— JWT auth, role &amp; permission checks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 rot="10800000">
            <a:off x="5760720" y="4005072"/>
            <a:ext cx="182880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7" name="Shape 13"/>
          <p:cNvSpPr/>
          <p:nvPr/>
        </p:nvSpPr>
        <p:spPr>
          <a:xfrm>
            <a:off x="548640" y="4197096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338828"/>
            <a:ext cx="585216" cy="58521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" y="4414906"/>
            <a:ext cx="433060" cy="4330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4306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465429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· Shipment · Manifest · Finance · Master Data · Reports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 rot="10800000">
            <a:off x="5760720" y="5074920"/>
            <a:ext cx="182880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526694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5408676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18" y="5484754"/>
            <a:ext cx="433060" cy="4330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00200" y="5376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600200" y="572414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(tenant-scoped) · Redis cache · S3 documents &amp; proofs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User Sees Only What They Should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role-based and scoped to a company (and often a single branch). The same screens render differently depending on who is logged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42032" cy="109728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2350008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161" y="2456993"/>
            <a:ext cx="608990" cy="6089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3832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93192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— onboards companies, manages subscription plans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46704" y="1965960"/>
            <a:ext cx="2542032" cy="109728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2350008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25" y="2456993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83864" y="33832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393192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company — branches, staff, pricing, settings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44768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1965960"/>
            <a:ext cx="2542032" cy="109728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19" name="Shape 15"/>
          <p:cNvSpPr/>
          <p:nvPr/>
        </p:nvSpPr>
        <p:spPr>
          <a:xfrm>
            <a:off x="7004304" y="2350008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89" y="2456993"/>
            <a:ext cx="608990" cy="6089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81928" y="33832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45936" y="393192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branch — staffing, bookings, dispatch, wallet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42832" y="196596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42832" y="1965960"/>
            <a:ext cx="2542032" cy="109728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25" name="Shape 20"/>
          <p:cNvSpPr/>
          <p:nvPr/>
        </p:nvSpPr>
        <p:spPr>
          <a:xfrm>
            <a:off x="9802368" y="2350008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353" y="2456993"/>
            <a:ext cx="608990" cy="6089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79992" y="33832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Support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0" y="393192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shipments, tracks parcels, handles customers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Booking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shipment is the platform’s central transaction — it pulls in the customer, the rate card, and the branch wallet in one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2436" y="242316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024" y="2508748"/>
            <a:ext cx="487192" cy="4871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24612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Customer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749040"/>
            <a:ext cx="1673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 or quick-add, with pickup/drop address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 rot="5400000">
            <a:off x="2586609" y="3483864"/>
            <a:ext cx="164592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9"/>
          <p:cNvSpPr/>
          <p:nvPr/>
        </p:nvSpPr>
        <p:spPr>
          <a:xfrm>
            <a:off x="2823210" y="21488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7006" y="242316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94" y="250874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3293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951226" y="324612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Price It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69514" y="3749040"/>
            <a:ext cx="1673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route, service &amp; payment mode resolve a rate instantly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 rot="5400000">
            <a:off x="4861179" y="3483864"/>
            <a:ext cx="164592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9" name="Shape 15"/>
          <p:cNvSpPr/>
          <p:nvPr/>
        </p:nvSpPr>
        <p:spPr>
          <a:xfrm>
            <a:off x="5097780" y="21488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51576" y="2423160"/>
            <a:ext cx="658368" cy="65836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164" y="2508748"/>
            <a:ext cx="487192" cy="48719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0750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225796" y="324612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Book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244084" y="3749040"/>
            <a:ext cx="1673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debited (if prepaid); consignment number generated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 rot="5400000">
            <a:off x="7135749" y="3483864"/>
            <a:ext cx="164592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6" name="Shape 21"/>
          <p:cNvSpPr/>
          <p:nvPr/>
        </p:nvSpPr>
        <p:spPr>
          <a:xfrm>
            <a:off x="7372350" y="21488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26146" y="242316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734" y="2508748"/>
            <a:ext cx="487192" cy="48719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8207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500366" y="324612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Documents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518654" y="3749040"/>
            <a:ext cx="1673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note, invoice and labels print immediately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 rot="5400000">
            <a:off x="9410319" y="3483864"/>
            <a:ext cx="164592" cy="164592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3" name="Shape 27"/>
          <p:cNvSpPr/>
          <p:nvPr/>
        </p:nvSpPr>
        <p:spPr>
          <a:xfrm>
            <a:off x="9646920" y="21488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300716" y="242316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304" y="2508748"/>
            <a:ext cx="487192" cy="48719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5664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774936" y="324612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93224" y="3749040"/>
            <a:ext cx="1673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staff track status end to end, even without login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Booking to Delivery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booked, a shipment moves through a tracked lifecycle — every handover leaves a paper (or photo) trail.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" y="23774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613916" y="2697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7925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28116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23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Sheet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28116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shipments grouped by destination city into a manifest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 rot="5400000">
            <a:off x="3268980" y="3803904"/>
            <a:ext cx="164592" cy="164592"/>
          </a:xfrm>
          <a:prstGeom prst="triangle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3488436" y="23774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57116" y="2697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14" y="279257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71316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6255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Dispatch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671316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handover to the crossing branch, with OTP-verified handoff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 rot="5400000">
            <a:off x="6012180" y="3803904"/>
            <a:ext cx="164592" cy="164592"/>
          </a:xfrm>
          <a:prstGeom prst="triangle">
            <a:avLst/>
          </a:prstGeom>
          <a:solidFill>
            <a:srgbClr val="FF6B35"/>
          </a:solidFill>
          <a:ln/>
        </p:spPr>
      </p:sp>
      <p:sp>
        <p:nvSpPr>
          <p:cNvPr id="19" name="Shape 15"/>
          <p:cNvSpPr/>
          <p:nvPr/>
        </p:nvSpPr>
        <p:spPr>
          <a:xfrm>
            <a:off x="6231636" y="23774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</p:sp>
      <p:sp>
        <p:nvSpPr>
          <p:cNvPr id="20" name="Shape 16"/>
          <p:cNvSpPr/>
          <p:nvPr/>
        </p:nvSpPr>
        <p:spPr>
          <a:xfrm>
            <a:off x="7100316" y="2697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414" y="279257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14516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687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Delivery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414516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delivery run — vehicle, fuel and delivery charge captured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 rot="5400000">
            <a:off x="8755380" y="3803904"/>
            <a:ext cx="164592" cy="164592"/>
          </a:xfrm>
          <a:prstGeom prst="triangle">
            <a:avLst/>
          </a:prstGeom>
          <a:solidFill>
            <a:srgbClr val="FF6B35"/>
          </a:solidFill>
          <a:ln/>
        </p:spPr>
      </p:sp>
      <p:sp>
        <p:nvSpPr>
          <p:cNvPr id="26" name="Shape 21"/>
          <p:cNvSpPr/>
          <p:nvPr/>
        </p:nvSpPr>
        <p:spPr>
          <a:xfrm>
            <a:off x="8974836" y="237744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1B2A4A"/>
          </a:solidFill>
          <a:ln/>
        </p:spPr>
      </p:sp>
      <p:sp>
        <p:nvSpPr>
          <p:cNvPr id="27" name="Shape 22"/>
          <p:cNvSpPr/>
          <p:nvPr/>
        </p:nvSpPr>
        <p:spPr>
          <a:xfrm>
            <a:off x="9843516" y="2697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8614" y="2792578"/>
            <a:ext cx="541325" cy="54132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57716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1119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157716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/ photo captured; a human always reviews before it’s approved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Recharge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holds a prepaid wallet with an append-only transaction ledger. Bookings debit it automatically; branches top it up on request.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38704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Wallet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679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prepaid balance per branch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27355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debit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auto-deducted the moment a shipment books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398678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commission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142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Credited at delivery time under Direct Company Delivery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" y="470001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4300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ledgered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4855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always reconstructable from history, never just stored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" y="541324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43000" y="5285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visibility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5568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credits and pending commission shown live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192024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Request Flow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74920" y="2423160"/>
            <a:ext cx="62636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239512" y="2519172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80" y="2585740"/>
            <a:ext cx="378927" cy="37892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943600" y="24780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requests top-up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5943600" y="2770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entered against the branch wallet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74920" y="3264408"/>
            <a:ext cx="62636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239512" y="3360420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080" y="3426988"/>
            <a:ext cx="378927" cy="37892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943600" y="33192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image uploaded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594360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screenshot/receipt is mandatory before submit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074920" y="4105656"/>
            <a:ext cx="62636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239512" y="4201668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080" y="4268236"/>
            <a:ext cx="378927" cy="37892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943600" y="4160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queue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5943600" y="44531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 sees the request with the proof attached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074920" y="4946904"/>
            <a:ext cx="62636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5239512" y="5042916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080" y="5109484"/>
            <a:ext cx="378927" cy="378927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943600" y="50017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wallet credited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5943600" y="5294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updates instantly; ledger records the credit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opens to a dashboard scoped to what they manage — a branch manager sees their branch; a company admin sees every branch.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18288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47288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₹42,500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8288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63056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95944" y="18288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878824" y="1938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878824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6492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218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Trend — Last 7 Days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31520" y="3566160"/>
          <a:ext cx="61264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269480" y="3108960"/>
            <a:ext cx="4370832" cy="2880360"/>
          </a:xfrm>
          <a:prstGeom prst="roundRect">
            <a:avLst>
              <a:gd name="adj" fmla="val 3175"/>
            </a:avLst>
          </a:prstGeom>
          <a:solidFill>
            <a:srgbClr val="1421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0" y="321868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70648" y="365760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574" y="3707526"/>
            <a:ext cx="284196" cy="28419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55280" y="36301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CN-88213 booked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955280" y="3877056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ago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470648" y="425196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574" y="4301886"/>
            <a:ext cx="284196" cy="28419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955280" y="42245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approved — Pune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7955280" y="4471416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 ago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470648" y="484632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574" y="4896246"/>
            <a:ext cx="284196" cy="28419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955280" y="4818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closed — Route 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955280" y="5065776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min ago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470648" y="544068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574" y="5490606"/>
            <a:ext cx="284196" cy="28419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955280" y="54132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approved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7955280" y="5660136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ago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That Run the Business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dashboard, a dedicated reports suite lets every role export and audit the numbers behind day-to-day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0665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125980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57860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Report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28346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booked, by date/branch/customer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55848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2066544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2125980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257860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Report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28346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vs. pending, with delivery timestamps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63056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2066544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2125980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57860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Report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8346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runs — vehicle, fuel &amp; charges per trip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970264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16568" y="206654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04" y="2125980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16568" y="257860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Report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9116568" y="28346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handovers between branches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33558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4944" y="3502152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561588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4944" y="401421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Report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694944" y="42702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agent commission earned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355848" y="33558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02152" y="3502152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588" y="3561588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02152" y="401421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Report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3502152" y="42702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flow, revenue and dues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163056" y="33558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09360" y="350215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3561588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09360" y="401421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Report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42702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revenue per customer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970264" y="33558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116568" y="3502152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6004" y="3561588"/>
            <a:ext cx="338328" cy="33832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16568" y="401421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Report</a:t>
            </a:r>
            <a:endParaRPr lang="en-US" sz="1150" dirty="0"/>
          </a:p>
        </p:txBody>
      </p:sp>
      <p:sp>
        <p:nvSpPr>
          <p:cNvPr id="44" name="Text 34"/>
          <p:cNvSpPr txBox="1"/>
          <p:nvPr/>
        </p:nvSpPr>
        <p:spPr>
          <a:xfrm>
            <a:off x="9116568" y="42702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Branch-wise performance comparison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48640" y="47914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94944" y="493776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" y="4997196"/>
            <a:ext cx="338328" cy="33832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94944" y="544982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Report</a:t>
            </a:r>
            <a:endParaRPr lang="en-US" sz="1150" dirty="0"/>
          </a:p>
        </p:txBody>
      </p:sp>
      <p:sp>
        <p:nvSpPr>
          <p:cNvPr id="49" name="Text 38"/>
          <p:cNvSpPr txBox="1"/>
          <p:nvPr/>
        </p:nvSpPr>
        <p:spPr>
          <a:xfrm>
            <a:off x="694944" y="57058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stuck, delayed or flagged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3355848" y="47914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3502152" y="4937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1588" y="4997196"/>
            <a:ext cx="338328" cy="338328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3502152" y="544982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Audit Report</a:t>
            </a:r>
            <a:endParaRPr lang="en-US" sz="1150" dirty="0"/>
          </a:p>
        </p:txBody>
      </p:sp>
      <p:sp>
        <p:nvSpPr>
          <p:cNvPr id="54" name="Text 42"/>
          <p:cNvSpPr txBox="1"/>
          <p:nvPr/>
        </p:nvSpPr>
        <p:spPr>
          <a:xfrm>
            <a:off x="3502152" y="57058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vendor activity and charges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6163056" y="47914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6309360" y="493776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8796" y="4997196"/>
            <a:ext cx="338328" cy="338328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6309360" y="544982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Tracking Report</a:t>
            </a:r>
            <a:endParaRPr lang="en-US" sz="1150" dirty="0"/>
          </a:p>
        </p:txBody>
      </p:sp>
      <p:sp>
        <p:nvSpPr>
          <p:cNvPr id="59" name="Text 46"/>
          <p:cNvSpPr txBox="1"/>
          <p:nvPr/>
        </p:nvSpPr>
        <p:spPr>
          <a:xfrm>
            <a:off x="6309360" y="57058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for a batch of consignment numbers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8970264" y="47914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10000"/>
              </a:srgbClr>
            </a:outerShdw>
          </a:effectLst>
        </p:spPr>
      </p:sp>
      <p:sp>
        <p:nvSpPr>
          <p:cNvPr id="61" name="Shape 48"/>
          <p:cNvSpPr/>
          <p:nvPr/>
        </p:nvSpPr>
        <p:spPr>
          <a:xfrm>
            <a:off x="9116568" y="493776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6004" y="4997196"/>
            <a:ext cx="338328" cy="338328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116568" y="544982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Ledger</a:t>
            </a:r>
            <a:endParaRPr lang="en-US" sz="1150" dirty="0"/>
          </a:p>
        </p:txBody>
      </p:sp>
      <p:sp>
        <p:nvSpPr>
          <p:cNvPr id="64" name="Text 50"/>
          <p:cNvSpPr txBox="1"/>
          <p:nvPr/>
        </p:nvSpPr>
        <p:spPr>
          <a:xfrm>
            <a:off x="9116568" y="57058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append-only transaction history</a:t>
            </a:r>
            <a:endParaRPr lang="en-US" sz="900" dirty="0"/>
          </a:p>
        </p:txBody>
      </p:sp>
      <p:sp>
        <p:nvSpPr>
          <p:cNvPr id="65" name="Text 5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4213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4213D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960120" cy="9601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679296"/>
            <a:ext cx="710489" cy="7104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80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Workflow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actual, step-by-step flow a Branch Manager runs in the software — from morning login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end-of-day reports — scoped to that one branch only.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the Branch,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Branch Manager or branch staff does lives inside one continuous flow — no separate tools, no manual handoffs.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8483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" y="2156155"/>
            <a:ext cx="405994" cy="405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96312" y="204825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05409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code + credentials — lands on this branch’s own dashboard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rot="5400000">
            <a:off x="3099816" y="273862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9"/>
          <p:cNvSpPr/>
          <p:nvPr/>
        </p:nvSpPr>
        <p:spPr>
          <a:xfrm>
            <a:off x="3282696" y="19202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208483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11" y="2156155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0368" y="204825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47288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Dashboard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447288" y="305409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bookings, wallet balance, pending approvals at a glance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 rot="5400000">
            <a:off x="5833872" y="273862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9" name="Shape 15"/>
          <p:cNvSpPr/>
          <p:nvPr/>
        </p:nvSpPr>
        <p:spPr>
          <a:xfrm>
            <a:off x="6016752" y="19202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81344" y="208483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67" y="2156155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964424" y="204825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181344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Shipments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6181344" y="305409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customer, auto-price, confirm — wallet debits automatically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 rot="5400000">
            <a:off x="8567928" y="273862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6" name="Shape 21"/>
          <p:cNvSpPr/>
          <p:nvPr/>
        </p:nvSpPr>
        <p:spPr>
          <a:xfrm>
            <a:off x="8750808" y="19202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915400" y="208483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3" y="2156155"/>
            <a:ext cx="405994" cy="40599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698480" y="204825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915400" y="2743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Wallet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8915400" y="305409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running low — request a recharge with payment proof attached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48640" y="3959352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3232" y="4123944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4195267"/>
            <a:ext cx="405994" cy="40599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2496312" y="40873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13232" y="47823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Load Sheet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713232" y="5093208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day’s bookings by destination city into a manifest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 rot="5400000">
            <a:off x="3099816" y="4777740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9" name="Shape 32"/>
          <p:cNvSpPr/>
          <p:nvPr/>
        </p:nvSpPr>
        <p:spPr>
          <a:xfrm>
            <a:off x="3282696" y="3959352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447288" y="4123944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611" y="4195267"/>
            <a:ext cx="405994" cy="40599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230368" y="40873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3447288" y="47823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Dispatch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3447288" y="5093208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manifest to the crossing branch, OTP-verified handover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 rot="5400000">
            <a:off x="5833872" y="4777740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46" name="Shape 38"/>
          <p:cNvSpPr/>
          <p:nvPr/>
        </p:nvSpPr>
        <p:spPr>
          <a:xfrm>
            <a:off x="6016752" y="3959352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181344" y="4123944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667" y="4195267"/>
            <a:ext cx="405994" cy="40599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964424" y="40873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6181344" y="47823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Delivery</a:t>
            </a:r>
            <a:endParaRPr lang="en-US" sz="1250" dirty="0"/>
          </a:p>
        </p:txBody>
      </p:sp>
      <p:sp>
        <p:nvSpPr>
          <p:cNvPr id="51" name="Text 42"/>
          <p:cNvSpPr txBox="1"/>
          <p:nvPr/>
        </p:nvSpPr>
        <p:spPr>
          <a:xfrm>
            <a:off x="6181344" y="5093208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delivery run — vehicle, fuel, OTP confirmation at the door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 rot="5400000">
            <a:off x="8567928" y="4777740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53" name="Shape 44"/>
          <p:cNvSpPr/>
          <p:nvPr/>
        </p:nvSpPr>
        <p:spPr>
          <a:xfrm>
            <a:off x="8750808" y="3959352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8915400" y="4123944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6723" y="4195267"/>
            <a:ext cx="405994" cy="405994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0698480" y="40873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8915400" y="47823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Day</a:t>
            </a:r>
            <a:endParaRPr lang="en-US" sz="1250" dirty="0"/>
          </a:p>
        </p:txBody>
      </p:sp>
      <p:sp>
        <p:nvSpPr>
          <p:cNvPr id="58" name="Text 48"/>
          <p:cNvSpPr txBox="1"/>
          <p:nvPr/>
        </p:nvSpPr>
        <p:spPr>
          <a:xfrm>
            <a:off x="8915400" y="5093208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proof of delivery, check branch reports, reconcile the wallet</a:t>
            </a:r>
            <a:endParaRPr lang="en-US" sz="950" dirty="0"/>
          </a:p>
        </p:txBody>
      </p:sp>
      <p:sp>
        <p:nvSpPr>
          <p:cNvPr id="59" name="Text 4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Branch Manager Actually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wallet are scoped the instant a branch user logs in — nothing is filtered by hand.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08483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booked today — this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044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₹12,800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04495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wallet balance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00507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400507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requests pending approval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9651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49651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runs out for delivery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1965960"/>
            <a:ext cx="5742432" cy="397764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2860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961" y="2387041"/>
            <a:ext cx="575158" cy="57515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178040" y="235000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Branch, Nothing Else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679192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screens, filtered automatically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330098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92240" y="315468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KPIs, charts and recent activity never include another branch’s shipments or wallet.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17920" y="401421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92240" y="3867912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shown is this branch’s own prepaid balance — debited by its own bookings only.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17920" y="472744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92240" y="458114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balance triggers the same top-up flow: request → upload proof → wait for admin approval.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17920" y="544068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92240" y="5294376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 can staff and manage users for this branch, but cannot see or touch another branch’s data.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Reports — Filtered Automatically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a branch user opens defaults to their own branch — no manual filter, no way to pull another branch’s numbers.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5508" y="196596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2258568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184" y="2344156"/>
            <a:ext cx="487192" cy="4871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3524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Report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1812" y="36118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this branch booked, by date or customer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48356" y="196596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2444" y="2258568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032" y="2344156"/>
            <a:ext cx="487192" cy="4871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6372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Report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994660" y="36118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vs. pending for this branch’s shipments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61204" y="196596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5292" y="2258568"/>
            <a:ext cx="658368" cy="65836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880" y="2344156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9220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Report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207508" y="36118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branch’s delivery runs — vehicle, fuel, charges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274052" y="196596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78140" y="2258568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728" y="2344156"/>
            <a:ext cx="487192" cy="48719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2068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Report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20356" y="36118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handovers this branch sent or received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86900" y="1965960"/>
            <a:ext cx="2066544" cy="27889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90988" y="2258568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576" y="2344156"/>
            <a:ext cx="487192" cy="48719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14916" y="31089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Ledger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9633204" y="361188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debit/credit history for this branch’s wallet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1EA"/>
          </a:solidFill>
          <a:ln/>
        </p:spPr>
      </p:sp>
      <p:sp>
        <p:nvSpPr>
          <p:cNvPr id="31" name="Shape 24"/>
          <p:cNvSpPr/>
          <p:nvPr/>
        </p:nvSpPr>
        <p:spPr>
          <a:xfrm>
            <a:off x="731520" y="519379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5253228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71600" y="5074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 and Super Admin can roll these up across every branch — a Branch Manager never sees past their own.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Isolation &amp; Audit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company’s data lives in the same database — and never leaks into another company’s 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22682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authenticated by token — no server-side session state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1945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81" y="226826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Permission Checks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endpoint is gated by role; screens hide what a user can’t do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1945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021" y="226826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filter is enforced at the data layer, not by hand-written queries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4462821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422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archived, never hard-deleted — nothing disappears by accident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6" name="Shape 20"/>
          <p:cNvSpPr/>
          <p:nvPr/>
        </p:nvSpPr>
        <p:spPr>
          <a:xfrm>
            <a:off x="4526280" y="4389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981" y="4462821"/>
            <a:ext cx="419527" cy="41952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2628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5422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security-relevant action is written to an append-only audit trail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31" name="Shape 24"/>
          <p:cNvSpPr/>
          <p:nvPr/>
        </p:nvSpPr>
        <p:spPr>
          <a:xfrm>
            <a:off x="8275320" y="4389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021" y="4462821"/>
            <a:ext cx="419527" cy="41952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7532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Proof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5422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proof and payment proof are always approved by a person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Boring-on-Purpose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exotic dependencies — mainstream, well-supported technology chosen for reliability over novelty.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4812" y="2167128"/>
            <a:ext cx="768096" cy="76809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664" y="2266980"/>
            <a:ext cx="568391" cy="5683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44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73852" y="2167128"/>
            <a:ext cx="768096" cy="7680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04" y="2266980"/>
            <a:ext cx="568391" cy="5683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3044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22892" y="2167128"/>
            <a:ext cx="768096" cy="76809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744" y="2266980"/>
            <a:ext cx="568391" cy="5683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83880" y="3044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18388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data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924812" y="4087368"/>
            <a:ext cx="768096" cy="7680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664" y="4187220"/>
            <a:ext cx="568391" cy="56839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4965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5276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sessions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3886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73852" y="4087368"/>
            <a:ext cx="768096" cy="76809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04" y="4187220"/>
            <a:ext cx="568391" cy="56839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34840" y="4965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434840" y="5276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POD &amp; proof images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3886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22892" y="4087368"/>
            <a:ext cx="768096" cy="7680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2744" y="4187220"/>
            <a:ext cx="568391" cy="568391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183880" y="4965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183880" y="5276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4213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4213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816559"/>
            <a:ext cx="744322" cy="7443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Start to Finish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Dispatch → Delivery → Wallet → Reports — all in one connected system.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28116" y="3566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8116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2811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79876" y="3566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79876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57987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1636" y="3566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31636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23163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Tiers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83396" y="3566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83396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88339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per Branch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2026-09-18T10:52:54Z</dcterms:created>
  <dcterms:modified xsi:type="dcterms:W3CDTF">2026-09-18T10:52:54Z</dcterms:modified>
</cp:coreProperties>
</file>